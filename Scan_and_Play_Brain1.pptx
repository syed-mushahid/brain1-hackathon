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aa65062-3f67-ecea-9399-8a966dbc6e51}">
          <p14:sldIdLst>
            <p14:sldId id="256"/>
          </p14:sldIdLst>
        </p14:section>
        <p14:section name="Why" id="{3c24b6c6-add8-8882-3c42-446e74861e62}">
          <p14:sldIdLst>
            <p14:sldId id="257"/>
            <p14:sldId id="258"/>
          </p14:sldIdLst>
        </p14:section>
        <p14:section name="The game" id="{3b67bd4e-f718-c8a5-0f34-3cc423d33ad5}">
          <p14:sldIdLst>
            <p14:sldId id="259"/>
            <p14:sldId id="260"/>
            <p14:sldId id="261"/>
          </p14:sldIdLst>
        </p14:section>
        <p14:section name="Next" id="{06f9ba56-fedd-ca9c-a177-1e4fc65cd3e4}">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What do the best midfielders do before the ball reaches them? They look around. That's what this game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to start. What do the best midfielders do before the ball reaches them? They look around. They check over their shoulder, so when the ball arrives, they already know where it's going.
These skills work as one chain: scan, remember, recognise the pattern, decide, and sometimes hold back from the obvious pass. And research links them to real performance. One study filmed Premier League players for a whole season and counted every look over the shoulder: the ones who scanned more completed more passes. In another, players watched life-size match clips that froze at a key moment; skilled players read the play right about twice as often. A Swedish study gave players brain tests and found the scores predicted their goals and assists two seasons later. And in youth players, inhibition and flexibility separate the elite from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 news: these skills can be trained. In one study, young academy players watched match clips that stopped at the key moment and chose what to do. After six weeks they made better and faster decisions. In a VR study, players more than doubled how often they looked over their shoulder before receiving the ball.
But there's an honest catch. A 2024 meta-analysis shows the effect in real games is much smaller than in the lab. And a generic tracking task that once looked promising didn't transfer in a bigger follow-up. So training only really carries over when it looks like real football. That was our design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idea. Every round is a real moment from a Bundesliga match, from the official DFL tracking data, where every player's position is recorded 25 times a second.
The ball is coming to you. You can look around, but you only see where you're looking, like in real life. Then, at the moment the pro actually played his pass, the screen goes black. Now you pass from memory: to a teammate, into space, or a lofted ball.
After that we show you three things: your pass, what the pro really did, and what was best. And we tell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brain games train one thing in isolation, with shapes or numbers. That's fine for the brain, but the research says it barely carries over to the pitch.
Scan &amp; Play is different. Real situations, real time pressure, and the answer is a real football decision. All the skills from the first slide are used together, in one action, like in a match. And you're always compared with the pro on exactly the same picture he saw, at the frame where he played the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us, the feedback is the actual training. A score alone doesn't teach you anything.
After every round you see three passes on the real pitch: yours, the pro's and the best one. And we tell you why: the pass was more dangerous, the lane was blocked, or you simply looked too early.
Behind this is a model that works out who gets to the ball first and how dangerous a pass is, calibrated on 991 real Bundesliga passes. The pro's choice comes out as good as the best one in about half the moments; in the other half there was a better option, and that's where you learn something. Every moment is checked automatically with over 1,500 simulated taps.
[Demo here: play one round live, open Why?, show the 3D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In the game: levels from full view up to blackout, a first-person 3D view so you scan like on the pitch, choosing not just where but also when to pass, and futsal moments.
For Brain1: your own reels already prove the demand. Two of your scanning and decision-making reels got over 800,000 views together, but the game shown at the end isn't the skill from the video. Scan &amp; Play is exactly that skill, playable. Show the real clip, then the same kind of moment in the game, then the download link. On top: premium for unlimited training and the 3D mode, and a club version with a coach dashboard.
And because claims need proof: we'd like to test it properly with a youth academy, six weeks, before and after. The QR code is right here: play the demo now on your own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entry is a clickable link to the paper or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1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1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Scan &amp; Play · Brain1 Hackathon 2026</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hyperlink" Target="https://doi.org/10.3389/fpsyg.2020.553813" TargetMode="External"/><Relationship Id="rId7" Type="http://schemas.openxmlformats.org/officeDocument/2006/relationships/hyperlink" Target="https://doi.org/10.1007/s10339-011-0392-1" TargetMode="External"/><Relationship Id="rId8" Type="http://schemas.openxmlformats.org/officeDocument/2006/relationships/hyperlink" Target="https://doi.org/10.1371/journal.pone.0034731" TargetMode="External"/><Relationship Id="rId9" Type="http://schemas.openxmlformats.org/officeDocument/2006/relationships/hyperlink" Target="https://doi.org/10.1371/journal.pone.0144580"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3390/sports4010001" TargetMode="External"/><Relationship Id="rId2" Type="http://schemas.openxmlformats.org/officeDocument/2006/relationships/hyperlink" Target="https://doi.org/10.1186/s13102-025-01425-7" TargetMode="External"/><Relationship Id="rId3" Type="http://schemas.openxmlformats.org/officeDocument/2006/relationships/hyperlink" Target="https://doi.org/10.3390/bs14100919" TargetMode="External"/><Relationship Id="rId4" Type="http://schemas.openxmlformats.org/officeDocument/2006/relationships/hyperlink" Target="https://doi.org/10.1016/j.psychsport.2015.06.002" TargetMode="External"/><Relationship Id="rId5" Type="http://schemas.openxmlformats.org/officeDocument/2006/relationships/hyperlink" Target="https://pure.etsmtl.ca/en/publications/no-transfer-of-3d-multiple-object-tracking-training-on-game-perfo/" TargetMode="External"/><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hyperlink" Target="https://doi.org/10.1038/s41597-025-04505-y"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1080/17461391.2014.957727" TargetMode="External"/><Relationship Id="rId3" Type="http://schemas.openxmlformats.org/officeDocument/2006/relationships/hyperlink" Target="https://doi.org/10.3390/bs14100919" TargetMode="External"/><Relationship Id="rId1" Type="http://schemas.openxmlformats.org/officeDocument/2006/relationships/image" Target="../media/image-5-1.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sloansportsconference.com/research-papers/physics-based-modeling-of-pass-probabilities-in-soccer" TargetMode="External"/><Relationship Id="rId3" Type="http://schemas.openxmlformats.org/officeDocument/2006/relationships/hyperlink" Target="https://github.com/Friends-of-Tracking-Data-FoTD/LaurieOnTracking" TargetMode="External"/><Relationship Id="rId1" Type="http://schemas.openxmlformats.org/officeDocument/2006/relationships/image" Target="../media/image-6-1.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hyperlink" Target="https://scanandplay.vercel.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i.org/10.3389/fpsyg.2020.553813" TargetMode="External"/><Relationship Id="rId2" Type="http://schemas.openxmlformats.org/officeDocument/2006/relationships/hyperlink" Target="https://doi.org/10.1007/s10339-011-0392-1" TargetMode="External"/><Relationship Id="rId3" Type="http://schemas.openxmlformats.org/officeDocument/2006/relationships/hyperlink" Target="https://pubmed.ncbi.nlm.nih.gov/17968048/" TargetMode="External"/><Relationship Id="rId4" Type="http://schemas.openxmlformats.org/officeDocument/2006/relationships/hyperlink" Target="https://doi.org/10.1371/journal.pone.0034731" TargetMode="External"/><Relationship Id="rId5" Type="http://schemas.openxmlformats.org/officeDocument/2006/relationships/hyperlink" Target="https://doi.org/10.1371/journal.pone.0170845" TargetMode="External"/><Relationship Id="rId6" Type="http://schemas.openxmlformats.org/officeDocument/2006/relationships/hyperlink" Target="https://doi.org/10.1371/journal.pone.0144580" TargetMode="External"/><Relationship Id="rId7" Type="http://schemas.openxmlformats.org/officeDocument/2006/relationships/hyperlink" Target="https://doi.org/10.1038/srep01154" TargetMode="External"/><Relationship Id="rId8" Type="http://schemas.openxmlformats.org/officeDocument/2006/relationships/hyperlink" Target="https://doi.org/10.1002/acp.3526" TargetMode="External"/><Relationship Id="rId9" Type="http://schemas.openxmlformats.org/officeDocument/2006/relationships/hyperlink" Target="https://doi.org/10.3390/sports4010001" TargetMode="External"/><Relationship Id="rId10" Type="http://schemas.openxmlformats.org/officeDocument/2006/relationships/hyperlink" Target="https://doi.org/10.1186/s13102-025-01425-7" TargetMode="External"/><Relationship Id="rId11" Type="http://schemas.openxmlformats.org/officeDocument/2006/relationships/hyperlink" Target="https://doi.org/10.1080/10413200.2017.1395929" TargetMode="External"/><Relationship Id="rId12" Type="http://schemas.openxmlformats.org/officeDocument/2006/relationships/hyperlink" Target="https://doi.org/10.3390/bs14100919" TargetMode="External"/><Relationship Id="rId13" Type="http://schemas.openxmlformats.org/officeDocument/2006/relationships/hyperlink" Target="https://doi.org/10.1080/17461391.2014.957727" TargetMode="External"/><Relationship Id="rId14" Type="http://schemas.openxmlformats.org/officeDocument/2006/relationships/hyperlink" Target="https://pure.etsmtl.ca/en/publications/no-transfer-of-3d-multiple-object-tracking-training-on-game-perfo/" TargetMode="External"/><Relationship Id="rId15" Type="http://schemas.openxmlformats.org/officeDocument/2006/relationships/hyperlink" Target="https://doi.org/10.1038/s41597-025-04505-y" TargetMode="External"/><Relationship Id="rId16" Type="http://schemas.openxmlformats.org/officeDocument/2006/relationships/hyperlink" Target="https://www.sloansportsconference.com/research-papers/physics-based-modeling-of-pass-probabilities-in-soccer" TargetMode="External"/><Relationship Id="rId17" Type="http://schemas.openxmlformats.org/officeDocument/2006/relationships/slideLayout" Target="../slideLayouts/slideLayout3.xml"/><Relationship Id="rId1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737360"/>
            <a:ext cx="6035040" cy="1188720"/>
          </a:xfrm>
          <a:prstGeom prst="rect">
            <a:avLst/>
          </a:prstGeom>
          <a:noFill/>
          <a:ln/>
        </p:spPr>
        <p:txBody>
          <a:bodyPr wrap="square" lIns="0" tIns="0" rIns="0" bIns="0" rtlCol="0" anchor="ctr"/>
          <a:lstStyle/>
          <a:p>
            <a:pPr indent="0" marL="0">
              <a:buNone/>
            </a:pPr>
            <a:r>
              <a:rPr lang="en-US" sz="6600" b="1" i="1" dirty="0">
                <a:solidFill>
                  <a:schemeClr val="bg1"/>
                </a:solidFill>
                <a:latin typeface="Arial" pitchFamily="34" charset="0"/>
                <a:ea typeface="Arial" pitchFamily="34" charset="-122"/>
                <a:cs typeface="Arial" pitchFamily="34" charset="-120"/>
              </a:rPr>
              <a:t>Scan </a:t>
            </a:r>
            <a:pPr indent="0" marL="0">
              <a:buNone/>
            </a:pPr>
            <a:r>
              <a:rPr lang="en-US" sz="6600" b="1" i="1" dirty="0">
                <a:solidFill>
                  <a:schemeClr val="accent1"/>
                </a:solidFill>
                <a:latin typeface="Arial" pitchFamily="34" charset="0"/>
                <a:ea typeface="Arial" pitchFamily="34" charset="-122"/>
                <a:cs typeface="Arial" pitchFamily="34" charset="-120"/>
              </a:rPr>
              <a:t>&amp; </a:t>
            </a:r>
            <a:pPr indent="0" marL="0">
              <a:buNone/>
            </a:pPr>
            <a:r>
              <a:rPr lang="en-US" sz="6600" b="1" i="1" dirty="0">
                <a:solidFill>
                  <a:schemeClr val="bg1"/>
                </a:solidFill>
                <a:latin typeface="Arial" pitchFamily="34" charset="0"/>
                <a:ea typeface="Arial" pitchFamily="34" charset="-122"/>
                <a:cs typeface="Arial" pitchFamily="34" charset="-120"/>
              </a:rPr>
              <a:t>Play</a:t>
            </a:r>
            <a:endParaRPr lang="en-US" sz="6600" dirty="0"/>
          </a:p>
        </p:txBody>
      </p:sp>
      <p:sp>
        <p:nvSpPr>
          <p:cNvPr id="3" name="Subtitle"/>
          <p:cNvSpPr txBox="1"/>
          <p:nvPr/>
        </p:nvSpPr>
        <p:spPr>
          <a:xfrm>
            <a:off x="640080" y="3017520"/>
            <a:ext cx="5669280" cy="822960"/>
          </a:xfrm>
          <a:prstGeom prst="rect">
            <a:avLst/>
          </a:prstGeom>
          <a:noFill/>
          <a:ln/>
        </p:spPr>
        <p:txBody>
          <a:bodyPr wrap="square" lIns="0" tIns="0" rIns="0" bIns="0" rtlCol="0" anchor="ctr"/>
          <a:lstStyle/>
          <a:p>
            <a:pPr indent="0" marL="0">
              <a:buNone/>
            </a:pPr>
            <a:r>
              <a:rPr lang="en-US" sz="2200" dirty="0">
                <a:solidFill>
                  <a:schemeClr val="bg2"/>
                </a:solidFill>
              </a:rPr>
              <a:t>Train how you see the game, with real Bundesliga moments</a:t>
            </a:r>
            <a:endParaRPr lang="en-US" sz="2200" dirty="0"/>
          </a:p>
        </p:txBody>
      </p:sp>
      <p:sp>
        <p:nvSpPr>
          <p:cNvPr id="4" name="Event"/>
          <p:cNvSpPr txBox="1"/>
          <p:nvPr/>
        </p:nvSpPr>
        <p:spPr>
          <a:xfrm>
            <a:off x="640080" y="4114800"/>
            <a:ext cx="5669280" cy="365760"/>
          </a:xfrm>
          <a:prstGeom prst="rect">
            <a:avLst/>
          </a:prstGeom>
          <a:noFill/>
          <a:ln/>
        </p:spPr>
        <p:txBody>
          <a:bodyPr wrap="square" lIns="0" tIns="0" rIns="0" bIns="0" rtlCol="0" anchor="ctr"/>
          <a:lstStyle/>
          <a:p>
            <a:pPr indent="0" marL="0">
              <a:buNone/>
            </a:pPr>
            <a:r>
              <a:rPr lang="en-US" sz="1400" b="1" dirty="0">
                <a:solidFill>
                  <a:schemeClr val="accent1"/>
                </a:solidFill>
              </a:rPr>
              <a:t>Brain1 Hackathon · Neu-Isenburg · 30 October 2026</a:t>
            </a:r>
            <a:endParaRPr lang="en-US" sz="1400" dirty="0"/>
          </a:p>
        </p:txBody>
      </p:sp>
      <p:pic>
        <p:nvPicPr>
          <p:cNvPr id="5" name="Pitch screenshot" descr="/tmp/claude-0/-home-claude/1d9e7da0-d217-5fb5-8a7d-7dbb3f2728f7/scratchpad/deck/pitch.png">    </p:cNvPr>
          <p:cNvPicPr>
            <a:picLocks noChangeAspect="1"/>
          </p:cNvPicPr>
          <p:nvPr/>
        </p:nvPicPr>
        <p:blipFill>
          <a:blip r:embed="rId1"/>
          <a:stretch>
            <a:fillRect/>
          </a:stretch>
        </p:blipFill>
        <p:spPr>
          <a:xfrm>
            <a:off x="6949440" y="1143000"/>
            <a:ext cx="4663440" cy="3767328"/>
          </a:xfrm>
          <a:prstGeom prst="rect">
            <a:avLst/>
          </a:prstGeom>
        </p:spPr>
      </p:pic>
      <p:sp>
        <p:nvSpPr>
          <p:cNvPr id="6" name="Legend title"/>
          <p:cNvSpPr txBox="1"/>
          <p:nvPr/>
        </p:nvSpPr>
        <p:spPr>
          <a:xfrm>
            <a:off x="6949440" y="4983480"/>
            <a:ext cx="4663440" cy="274320"/>
          </a:xfrm>
          <a:prstGeom prst="rect">
            <a:avLst/>
          </a:prstGeom>
          <a:noFill/>
          <a:ln/>
        </p:spPr>
        <p:txBody>
          <a:bodyPr wrap="square" lIns="0" tIns="0" rIns="0" bIns="0" rtlCol="0" anchor="ctr"/>
          <a:lstStyle/>
          <a:p>
            <a:pPr indent="0" marL="0">
              <a:buNone/>
            </a:pPr>
            <a:r>
              <a:rPr lang="en-US" sz="1200" b="1" dirty="0">
                <a:solidFill>
                  <a:schemeClr val="accent1"/>
                </a:solidFill>
              </a:rPr>
              <a:t>How to read the pitch</a:t>
            </a:r>
            <a:endParaRPr lang="en-US" sz="1200" dirty="0"/>
          </a:p>
        </p:txBody>
      </p:sp>
      <p:sp>
        <p:nvSpPr>
          <p:cNvPr id="7" name="Legend mark 1"/>
          <p:cNvSpPr/>
          <p:nvPr/>
        </p:nvSpPr>
        <p:spPr>
          <a:xfrm>
            <a:off x="6949440" y="5468112"/>
            <a:ext cx="411480" cy="0"/>
          </a:xfrm>
          <a:prstGeom prst="line">
            <a:avLst/>
          </a:prstGeom>
          <a:noFill/>
          <a:ln w="34925">
            <a:solidFill>
              <a:srgbClr val="22D3EE"/>
            </a:solidFill>
            <a:prstDash val="solid"/>
          </a:ln>
        </p:spPr>
      </p:sp>
      <p:sp>
        <p:nvSpPr>
          <p:cNvPr id="8" name="Legend label 1"/>
          <p:cNvSpPr txBox="1"/>
          <p:nvPr/>
        </p:nvSpPr>
        <p:spPr>
          <a:xfrm>
            <a:off x="7452360" y="5349240"/>
            <a:ext cx="1828800" cy="256032"/>
          </a:xfrm>
          <a:prstGeom prst="rect">
            <a:avLst/>
          </a:prstGeom>
          <a:noFill/>
          <a:ln/>
        </p:spPr>
        <p:txBody>
          <a:bodyPr wrap="square" lIns="0" tIns="0" rIns="0" bIns="0" rtlCol="0" anchor="ctr"/>
          <a:lstStyle/>
          <a:p>
            <a:pPr indent="0" marL="0">
              <a:buNone/>
            </a:pPr>
            <a:r>
              <a:rPr lang="en-US" sz="1100" dirty="0">
                <a:solidFill>
                  <a:schemeClr val="bg1"/>
                </a:solidFill>
              </a:rPr>
              <a:t>Your pass</a:t>
            </a:r>
            <a:endParaRPr lang="en-US" sz="1100" dirty="0"/>
          </a:p>
        </p:txBody>
      </p:sp>
      <p:sp>
        <p:nvSpPr>
          <p:cNvPr id="9" name="Legend mark 2"/>
          <p:cNvSpPr/>
          <p:nvPr/>
        </p:nvSpPr>
        <p:spPr>
          <a:xfrm>
            <a:off x="9326880" y="5468112"/>
            <a:ext cx="411480" cy="0"/>
          </a:xfrm>
          <a:prstGeom prst="line">
            <a:avLst/>
          </a:prstGeom>
          <a:noFill/>
          <a:ln w="34925">
            <a:solidFill>
              <a:srgbClr val="FFD60A"/>
            </a:solidFill>
            <a:prstDash val="solid"/>
          </a:ln>
        </p:spPr>
      </p:sp>
      <p:sp>
        <p:nvSpPr>
          <p:cNvPr id="10" name="Legend label 2"/>
          <p:cNvSpPr txBox="1"/>
          <p:nvPr/>
        </p:nvSpPr>
        <p:spPr>
          <a:xfrm>
            <a:off x="9829800" y="5349240"/>
            <a:ext cx="1828800" cy="256032"/>
          </a:xfrm>
          <a:prstGeom prst="rect">
            <a:avLst/>
          </a:prstGeom>
          <a:noFill/>
          <a:ln/>
        </p:spPr>
        <p:txBody>
          <a:bodyPr wrap="square" lIns="0" tIns="0" rIns="0" bIns="0" rtlCol="0" anchor="ctr"/>
          <a:lstStyle/>
          <a:p>
            <a:pPr indent="0" marL="0">
              <a:buNone/>
            </a:pPr>
            <a:r>
              <a:rPr lang="en-US" sz="1100" dirty="0">
                <a:solidFill>
                  <a:schemeClr val="bg1"/>
                </a:solidFill>
              </a:rPr>
              <a:t>The pro's real pass</a:t>
            </a:r>
            <a:endParaRPr lang="en-US" sz="1100" dirty="0"/>
          </a:p>
        </p:txBody>
      </p:sp>
      <p:sp>
        <p:nvSpPr>
          <p:cNvPr id="11" name="Legend mark 3"/>
          <p:cNvSpPr/>
          <p:nvPr/>
        </p:nvSpPr>
        <p:spPr>
          <a:xfrm>
            <a:off x="6949440" y="5797296"/>
            <a:ext cx="411480" cy="0"/>
          </a:xfrm>
          <a:prstGeom prst="line">
            <a:avLst/>
          </a:prstGeom>
          <a:noFill/>
          <a:ln w="34925">
            <a:solidFill>
              <a:srgbClr val="FFFFFF"/>
            </a:solidFill>
            <a:prstDash val="dash"/>
          </a:ln>
        </p:spPr>
      </p:sp>
      <p:sp>
        <p:nvSpPr>
          <p:cNvPr id="12" name="Legend label 3"/>
          <p:cNvSpPr txBox="1"/>
          <p:nvPr/>
        </p:nvSpPr>
        <p:spPr>
          <a:xfrm>
            <a:off x="7452360" y="5678424"/>
            <a:ext cx="1828800" cy="256032"/>
          </a:xfrm>
          <a:prstGeom prst="rect">
            <a:avLst/>
          </a:prstGeom>
          <a:noFill/>
          <a:ln/>
        </p:spPr>
        <p:txBody>
          <a:bodyPr wrap="square" lIns="0" tIns="0" rIns="0" bIns="0" rtlCol="0" anchor="ctr"/>
          <a:lstStyle/>
          <a:p>
            <a:pPr indent="0" marL="0">
              <a:buNone/>
            </a:pPr>
            <a:r>
              <a:rPr lang="en-US" sz="1100" dirty="0">
                <a:solidFill>
                  <a:schemeClr val="bg1"/>
                </a:solidFill>
              </a:rPr>
              <a:t>Best option (pass model)</a:t>
            </a:r>
            <a:endParaRPr lang="en-US" sz="1100" dirty="0"/>
          </a:p>
        </p:txBody>
      </p:sp>
      <p:sp>
        <p:nvSpPr>
          <p:cNvPr id="13" name="Legend mark 4"/>
          <p:cNvSpPr/>
          <p:nvPr/>
        </p:nvSpPr>
        <p:spPr>
          <a:xfrm>
            <a:off x="9326880" y="5797296"/>
            <a:ext cx="411480" cy="0"/>
          </a:xfrm>
          <a:prstGeom prst="line">
            <a:avLst/>
          </a:prstGeom>
          <a:noFill/>
          <a:ln w="34925">
            <a:solidFill>
              <a:srgbClr val="FFD60A"/>
            </a:solidFill>
            <a:prstDash val="sysDot"/>
          </a:ln>
        </p:spPr>
      </p:sp>
      <p:sp>
        <p:nvSpPr>
          <p:cNvPr id="14" name="Legend label 4"/>
          <p:cNvSpPr txBox="1"/>
          <p:nvPr/>
        </p:nvSpPr>
        <p:spPr>
          <a:xfrm>
            <a:off x="9829800" y="5678424"/>
            <a:ext cx="1828800" cy="256032"/>
          </a:xfrm>
          <a:prstGeom prst="rect">
            <a:avLst/>
          </a:prstGeom>
          <a:noFill/>
          <a:ln/>
        </p:spPr>
        <p:txBody>
          <a:bodyPr wrap="square" lIns="0" tIns="0" rIns="0" bIns="0" rtlCol="0" anchor="ctr"/>
          <a:lstStyle/>
          <a:p>
            <a:pPr indent="0" marL="0">
              <a:buNone/>
            </a:pPr>
            <a:r>
              <a:rPr lang="en-US" sz="1100" dirty="0">
                <a:solidFill>
                  <a:schemeClr val="bg1"/>
                </a:solidFill>
              </a:rPr>
              <a:t>A teammate's run onto the ball</a:t>
            </a:r>
            <a:endParaRPr lang="en-US" sz="1100" dirty="0"/>
          </a:p>
        </p:txBody>
      </p:sp>
      <p:sp>
        <p:nvSpPr>
          <p:cNvPr id="15" name="Legend mark 5"/>
          <p:cNvSpPr/>
          <p:nvPr/>
        </p:nvSpPr>
        <p:spPr>
          <a:xfrm>
            <a:off x="6949440" y="6126480"/>
            <a:ext cx="411480" cy="0"/>
          </a:xfrm>
          <a:prstGeom prst="line">
            <a:avLst/>
          </a:prstGeom>
          <a:noFill/>
          <a:ln w="34925">
            <a:solidFill>
              <a:srgbClr val="F87171"/>
            </a:solidFill>
            <a:prstDash val="dash"/>
          </a:ln>
        </p:spPr>
      </p:sp>
      <p:sp>
        <p:nvSpPr>
          <p:cNvPr id="16" name="Legend label 5"/>
          <p:cNvSpPr txBox="1"/>
          <p:nvPr/>
        </p:nvSpPr>
        <p:spPr>
          <a:xfrm>
            <a:off x="7452360" y="6007608"/>
            <a:ext cx="1828800" cy="256032"/>
          </a:xfrm>
          <a:prstGeom prst="rect">
            <a:avLst/>
          </a:prstGeom>
          <a:noFill/>
          <a:ln/>
        </p:spPr>
        <p:txBody>
          <a:bodyPr wrap="square" lIns="0" tIns="0" rIns="0" bIns="0" rtlCol="0" anchor="ctr"/>
          <a:lstStyle/>
          <a:p>
            <a:pPr indent="0" marL="0">
              <a:buNone/>
            </a:pPr>
            <a:r>
              <a:rPr lang="en-US" sz="1100" dirty="0">
                <a:solidFill>
                  <a:schemeClr val="bg1"/>
                </a:solidFill>
              </a:rPr>
              <a:t>Danger: opponent close to the pass</a:t>
            </a:r>
            <a:endParaRPr lang="en-US" sz="1100" dirty="0"/>
          </a:p>
        </p:txBody>
      </p:sp>
      <p:sp>
        <p:nvSpPr>
          <p:cNvPr id="17" name="Legend mark 6"/>
          <p:cNvSpPr/>
          <p:nvPr/>
        </p:nvSpPr>
        <p:spPr>
          <a:xfrm>
            <a:off x="9326880" y="6025896"/>
            <a:ext cx="411480" cy="329184"/>
          </a:xfrm>
          <a:prstGeom prst="arc">
            <a:avLst>
              <a:gd name="adj1" fmla="val 12000000"/>
              <a:gd name="adj2" fmla="val 20400000"/>
            </a:avLst>
          </a:prstGeom>
          <a:noFill/>
          <a:ln w="28575">
            <a:solidFill>
              <a:srgbClr val="A7B4C8"/>
            </a:solidFill>
            <a:prstDash val="solid"/>
          </a:ln>
        </p:spPr>
      </p:sp>
      <p:sp>
        <p:nvSpPr>
          <p:cNvPr id="18" name="Legend label 6"/>
          <p:cNvSpPr txBox="1"/>
          <p:nvPr/>
        </p:nvSpPr>
        <p:spPr>
          <a:xfrm>
            <a:off x="9829800" y="6007608"/>
            <a:ext cx="1828800" cy="256032"/>
          </a:xfrm>
          <a:prstGeom prst="rect">
            <a:avLst/>
          </a:prstGeom>
          <a:noFill/>
          <a:ln/>
        </p:spPr>
        <p:txBody>
          <a:bodyPr wrap="square" lIns="0" tIns="0" rIns="0" bIns="0" rtlCol="0" anchor="ctr"/>
          <a:lstStyle/>
          <a:p>
            <a:pPr indent="0" marL="0">
              <a:buNone/>
            </a:pPr>
            <a:r>
              <a:rPr lang="en-US" sz="1100" dirty="0">
                <a:solidFill>
                  <a:schemeClr val="bg1"/>
                </a:solidFill>
              </a:rPr>
              <a:t>Curved line = lofted pass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Football is decided in the head first</a:t>
            </a:r>
            <a:endParaRPr lang="en-US" sz="3400" dirty="0"/>
          </a:p>
        </p:txBody>
      </p:sp>
      <p:sp>
        <p:nvSpPr>
          <p:cNvPr id="3" name="Skill circle 1"/>
          <p:cNvSpPr/>
          <p:nvPr/>
        </p:nvSpPr>
        <p:spPr>
          <a:xfrm>
            <a:off x="1188720" y="1188720"/>
            <a:ext cx="731520" cy="731520"/>
          </a:xfrm>
          <a:prstGeom prst="ellipse">
            <a:avLst/>
          </a:prstGeom>
          <a:solidFill>
            <a:schemeClr val="tx2"/>
          </a:solidFill>
          <a:ln w="25400">
            <a:solidFill>
              <a:schemeClr val="accent1"/>
            </a:solidFill>
            <a:prstDash val="solid"/>
          </a:ln>
        </p:spPr>
      </p:sp>
      <p:pic>
        <p:nvPicPr>
          <p:cNvPr id="4" name="Skill icon 1" descr="preencoded.png">    </p:cNvPr>
          <p:cNvPicPr>
            <a:picLocks noChangeAspect="1"/>
          </p:cNvPicPr>
          <p:nvPr/>
        </p:nvPicPr>
        <p:blipFill>
          <a:blip r:embed="rId1"/>
          <a:stretch>
            <a:fillRect/>
          </a:stretch>
        </p:blipFill>
        <p:spPr>
          <a:xfrm>
            <a:off x="1371600" y="1371600"/>
            <a:ext cx="365760" cy="365760"/>
          </a:xfrm>
          <a:prstGeom prst="rect">
            <a:avLst/>
          </a:prstGeom>
        </p:spPr>
      </p:pic>
      <p:sp>
        <p:nvSpPr>
          <p:cNvPr id="5" name="Skill label 1"/>
          <p:cNvSpPr txBox="1"/>
          <p:nvPr/>
        </p:nvSpPr>
        <p:spPr>
          <a:xfrm>
            <a:off x="640080" y="1965960"/>
            <a:ext cx="1828800" cy="320040"/>
          </a:xfrm>
          <a:prstGeom prst="rect">
            <a:avLst/>
          </a:prstGeom>
          <a:noFill/>
          <a:ln/>
        </p:spPr>
        <p:txBody>
          <a:bodyPr wrap="square" lIns="0" tIns="0" rIns="0" bIns="0" rtlCol="0" anchor="ctr"/>
          <a:lstStyle/>
          <a:p>
            <a:pPr algn="ctr" indent="0" marL="0">
              <a:buNone/>
            </a:pPr>
            <a:r>
              <a:rPr lang="en-US" sz="1500" b="1" dirty="0">
                <a:solidFill>
                  <a:schemeClr val="bg1"/>
                </a:solidFill>
              </a:rPr>
              <a:t>Scan</a:t>
            </a:r>
            <a:endParaRPr lang="en-US" sz="1500" dirty="0"/>
          </a:p>
        </p:txBody>
      </p:sp>
      <p:sp>
        <p:nvSpPr>
          <p:cNvPr id="6" name="Arrow 1"/>
          <p:cNvSpPr/>
          <p:nvPr/>
        </p:nvSpPr>
        <p:spPr>
          <a:xfrm>
            <a:off x="2057400" y="1554480"/>
            <a:ext cx="1371600" cy="0"/>
          </a:xfrm>
          <a:prstGeom prst="line">
            <a:avLst/>
          </a:prstGeom>
          <a:noFill/>
          <a:ln w="19050">
            <a:solidFill>
              <a:schemeClr val="bg2"/>
            </a:solidFill>
            <a:prstDash val="solid"/>
            <a:tailEnd type="triangle"/>
          </a:ln>
        </p:spPr>
      </p:sp>
      <p:sp>
        <p:nvSpPr>
          <p:cNvPr id="7" name="Skill circle 2"/>
          <p:cNvSpPr/>
          <p:nvPr/>
        </p:nvSpPr>
        <p:spPr>
          <a:xfrm>
            <a:off x="3566160" y="1188720"/>
            <a:ext cx="731520" cy="731520"/>
          </a:xfrm>
          <a:prstGeom prst="ellipse">
            <a:avLst/>
          </a:prstGeom>
          <a:solidFill>
            <a:schemeClr val="tx2"/>
          </a:solidFill>
          <a:ln w="25400">
            <a:solidFill>
              <a:schemeClr val="accent1"/>
            </a:solidFill>
            <a:prstDash val="solid"/>
          </a:ln>
        </p:spPr>
      </p:sp>
      <p:pic>
        <p:nvPicPr>
          <p:cNvPr id="8" name="Skill icon 2" descr="preencoded.png">    </p:cNvPr>
          <p:cNvPicPr>
            <a:picLocks noChangeAspect="1"/>
          </p:cNvPicPr>
          <p:nvPr/>
        </p:nvPicPr>
        <p:blipFill>
          <a:blip r:embed="rId2"/>
          <a:stretch>
            <a:fillRect/>
          </a:stretch>
        </p:blipFill>
        <p:spPr>
          <a:xfrm>
            <a:off x="3749040" y="1371600"/>
            <a:ext cx="365760" cy="365760"/>
          </a:xfrm>
          <a:prstGeom prst="rect">
            <a:avLst/>
          </a:prstGeom>
        </p:spPr>
      </p:pic>
      <p:sp>
        <p:nvSpPr>
          <p:cNvPr id="9" name="Skill label 2"/>
          <p:cNvSpPr txBox="1"/>
          <p:nvPr/>
        </p:nvSpPr>
        <p:spPr>
          <a:xfrm>
            <a:off x="3017520" y="1965960"/>
            <a:ext cx="1828800" cy="320040"/>
          </a:xfrm>
          <a:prstGeom prst="rect">
            <a:avLst/>
          </a:prstGeom>
          <a:noFill/>
          <a:ln/>
        </p:spPr>
        <p:txBody>
          <a:bodyPr wrap="square" lIns="0" tIns="0" rIns="0" bIns="0" rtlCol="0" anchor="ctr"/>
          <a:lstStyle/>
          <a:p>
            <a:pPr algn="ctr" indent="0" marL="0">
              <a:buNone/>
            </a:pPr>
            <a:r>
              <a:rPr lang="en-US" sz="1500" b="1" dirty="0">
                <a:solidFill>
                  <a:schemeClr val="bg1"/>
                </a:solidFill>
              </a:rPr>
              <a:t>Remember</a:t>
            </a:r>
            <a:endParaRPr lang="en-US" sz="1500" dirty="0"/>
          </a:p>
        </p:txBody>
      </p:sp>
      <p:sp>
        <p:nvSpPr>
          <p:cNvPr id="10" name="Arrow 2"/>
          <p:cNvSpPr/>
          <p:nvPr/>
        </p:nvSpPr>
        <p:spPr>
          <a:xfrm>
            <a:off x="4434840" y="1554480"/>
            <a:ext cx="1371600" cy="0"/>
          </a:xfrm>
          <a:prstGeom prst="line">
            <a:avLst/>
          </a:prstGeom>
          <a:noFill/>
          <a:ln w="19050">
            <a:solidFill>
              <a:schemeClr val="bg2"/>
            </a:solidFill>
            <a:prstDash val="solid"/>
            <a:tailEnd type="triangle"/>
          </a:ln>
        </p:spPr>
      </p:sp>
      <p:sp>
        <p:nvSpPr>
          <p:cNvPr id="11" name="Skill circle 3"/>
          <p:cNvSpPr/>
          <p:nvPr/>
        </p:nvSpPr>
        <p:spPr>
          <a:xfrm>
            <a:off x="5943600" y="1188720"/>
            <a:ext cx="731520" cy="731520"/>
          </a:xfrm>
          <a:prstGeom prst="ellipse">
            <a:avLst/>
          </a:prstGeom>
          <a:solidFill>
            <a:schemeClr val="tx2"/>
          </a:solidFill>
          <a:ln w="25400">
            <a:solidFill>
              <a:schemeClr val="accent1"/>
            </a:solidFill>
            <a:prstDash val="solid"/>
          </a:ln>
        </p:spPr>
      </p:sp>
      <p:pic>
        <p:nvPicPr>
          <p:cNvPr id="12" name="Skill icon 3" descr="preencoded.png">    </p:cNvPr>
          <p:cNvPicPr>
            <a:picLocks noChangeAspect="1"/>
          </p:cNvPicPr>
          <p:nvPr/>
        </p:nvPicPr>
        <p:blipFill>
          <a:blip r:embed="rId3"/>
          <a:stretch>
            <a:fillRect/>
          </a:stretch>
        </p:blipFill>
        <p:spPr>
          <a:xfrm>
            <a:off x="6126480" y="1371600"/>
            <a:ext cx="365760" cy="365760"/>
          </a:xfrm>
          <a:prstGeom prst="rect">
            <a:avLst/>
          </a:prstGeom>
        </p:spPr>
      </p:pic>
      <p:sp>
        <p:nvSpPr>
          <p:cNvPr id="13" name="Skill label 3"/>
          <p:cNvSpPr txBox="1"/>
          <p:nvPr/>
        </p:nvSpPr>
        <p:spPr>
          <a:xfrm>
            <a:off x="5394960" y="1965960"/>
            <a:ext cx="1828800" cy="320040"/>
          </a:xfrm>
          <a:prstGeom prst="rect">
            <a:avLst/>
          </a:prstGeom>
          <a:noFill/>
          <a:ln/>
        </p:spPr>
        <p:txBody>
          <a:bodyPr wrap="square" lIns="0" tIns="0" rIns="0" bIns="0" rtlCol="0" anchor="ctr"/>
          <a:lstStyle/>
          <a:p>
            <a:pPr algn="ctr" indent="0" marL="0">
              <a:buNone/>
            </a:pPr>
            <a:r>
              <a:rPr lang="en-US" sz="1500" b="1" dirty="0">
                <a:solidFill>
                  <a:schemeClr val="bg1"/>
                </a:solidFill>
              </a:rPr>
              <a:t>Read the pattern</a:t>
            </a:r>
            <a:endParaRPr lang="en-US" sz="1500" dirty="0"/>
          </a:p>
        </p:txBody>
      </p:sp>
      <p:sp>
        <p:nvSpPr>
          <p:cNvPr id="14" name="Arrow 3"/>
          <p:cNvSpPr/>
          <p:nvPr/>
        </p:nvSpPr>
        <p:spPr>
          <a:xfrm>
            <a:off x="6812280" y="1554480"/>
            <a:ext cx="1371600" cy="0"/>
          </a:xfrm>
          <a:prstGeom prst="line">
            <a:avLst/>
          </a:prstGeom>
          <a:noFill/>
          <a:ln w="19050">
            <a:solidFill>
              <a:schemeClr val="bg2"/>
            </a:solidFill>
            <a:prstDash val="solid"/>
            <a:tailEnd type="triangle"/>
          </a:ln>
        </p:spPr>
      </p:sp>
      <p:sp>
        <p:nvSpPr>
          <p:cNvPr id="15" name="Skill circle 4"/>
          <p:cNvSpPr/>
          <p:nvPr/>
        </p:nvSpPr>
        <p:spPr>
          <a:xfrm>
            <a:off x="8321040" y="1188720"/>
            <a:ext cx="731520" cy="731520"/>
          </a:xfrm>
          <a:prstGeom prst="ellipse">
            <a:avLst/>
          </a:prstGeom>
          <a:solidFill>
            <a:schemeClr val="tx2"/>
          </a:solidFill>
          <a:ln w="25400">
            <a:solidFill>
              <a:schemeClr val="accent1"/>
            </a:solidFill>
            <a:prstDash val="solid"/>
          </a:ln>
        </p:spPr>
      </p:sp>
      <p:pic>
        <p:nvPicPr>
          <p:cNvPr id="16" name="Skill icon 4" descr="preencoded.png">    </p:cNvPr>
          <p:cNvPicPr>
            <a:picLocks noChangeAspect="1"/>
          </p:cNvPicPr>
          <p:nvPr/>
        </p:nvPicPr>
        <p:blipFill>
          <a:blip r:embed="rId4"/>
          <a:stretch>
            <a:fillRect/>
          </a:stretch>
        </p:blipFill>
        <p:spPr>
          <a:xfrm>
            <a:off x="8503920" y="1371600"/>
            <a:ext cx="365760" cy="365760"/>
          </a:xfrm>
          <a:prstGeom prst="rect">
            <a:avLst/>
          </a:prstGeom>
        </p:spPr>
      </p:pic>
      <p:sp>
        <p:nvSpPr>
          <p:cNvPr id="17" name="Skill label 4"/>
          <p:cNvSpPr txBox="1"/>
          <p:nvPr/>
        </p:nvSpPr>
        <p:spPr>
          <a:xfrm>
            <a:off x="7772400" y="1965960"/>
            <a:ext cx="1828800" cy="320040"/>
          </a:xfrm>
          <a:prstGeom prst="rect">
            <a:avLst/>
          </a:prstGeom>
          <a:noFill/>
          <a:ln/>
        </p:spPr>
        <p:txBody>
          <a:bodyPr wrap="square" lIns="0" tIns="0" rIns="0" bIns="0" rtlCol="0" anchor="ctr"/>
          <a:lstStyle/>
          <a:p>
            <a:pPr algn="ctr" indent="0" marL="0">
              <a:buNone/>
            </a:pPr>
            <a:r>
              <a:rPr lang="en-US" sz="1500" b="1" dirty="0">
                <a:solidFill>
                  <a:schemeClr val="bg1"/>
                </a:solidFill>
              </a:rPr>
              <a:t>Decide</a:t>
            </a:r>
            <a:endParaRPr lang="en-US" sz="1500" dirty="0"/>
          </a:p>
        </p:txBody>
      </p:sp>
      <p:sp>
        <p:nvSpPr>
          <p:cNvPr id="18" name="Arrow 4"/>
          <p:cNvSpPr/>
          <p:nvPr/>
        </p:nvSpPr>
        <p:spPr>
          <a:xfrm>
            <a:off x="9189720" y="1554480"/>
            <a:ext cx="1371600" cy="0"/>
          </a:xfrm>
          <a:prstGeom prst="line">
            <a:avLst/>
          </a:prstGeom>
          <a:noFill/>
          <a:ln w="19050">
            <a:solidFill>
              <a:schemeClr val="bg2"/>
            </a:solidFill>
            <a:prstDash val="solid"/>
            <a:tailEnd type="triangle"/>
          </a:ln>
        </p:spPr>
      </p:sp>
      <p:sp>
        <p:nvSpPr>
          <p:cNvPr id="19" name="Skill circle 5"/>
          <p:cNvSpPr/>
          <p:nvPr/>
        </p:nvSpPr>
        <p:spPr>
          <a:xfrm>
            <a:off x="10698480" y="1188720"/>
            <a:ext cx="731520" cy="731520"/>
          </a:xfrm>
          <a:prstGeom prst="ellipse">
            <a:avLst/>
          </a:prstGeom>
          <a:solidFill>
            <a:schemeClr val="tx2"/>
          </a:solidFill>
          <a:ln w="25400">
            <a:solidFill>
              <a:schemeClr val="accent1"/>
            </a:solidFill>
            <a:prstDash val="solid"/>
          </a:ln>
        </p:spPr>
      </p:sp>
      <p:pic>
        <p:nvPicPr>
          <p:cNvPr id="20" name="Skill icon 5" descr="preencoded.png">    </p:cNvPr>
          <p:cNvPicPr>
            <a:picLocks noChangeAspect="1"/>
          </p:cNvPicPr>
          <p:nvPr/>
        </p:nvPicPr>
        <p:blipFill>
          <a:blip r:embed="rId5"/>
          <a:stretch>
            <a:fillRect/>
          </a:stretch>
        </p:blipFill>
        <p:spPr>
          <a:xfrm>
            <a:off x="10881360" y="1371600"/>
            <a:ext cx="365760" cy="365760"/>
          </a:xfrm>
          <a:prstGeom prst="rect">
            <a:avLst/>
          </a:prstGeom>
        </p:spPr>
      </p:pic>
      <p:sp>
        <p:nvSpPr>
          <p:cNvPr id="21" name="Skill label 5"/>
          <p:cNvSpPr txBox="1"/>
          <p:nvPr/>
        </p:nvSpPr>
        <p:spPr>
          <a:xfrm>
            <a:off x="10149840" y="1965960"/>
            <a:ext cx="1828800" cy="320040"/>
          </a:xfrm>
          <a:prstGeom prst="rect">
            <a:avLst/>
          </a:prstGeom>
          <a:noFill/>
          <a:ln/>
        </p:spPr>
        <p:txBody>
          <a:bodyPr wrap="square" lIns="0" tIns="0" rIns="0" bIns="0" rtlCol="0" anchor="ctr"/>
          <a:lstStyle/>
          <a:p>
            <a:pPr algn="ctr" indent="0" marL="0">
              <a:buNone/>
            </a:pPr>
            <a:r>
              <a:rPr lang="en-US" sz="1500" b="1" dirty="0">
                <a:solidFill>
                  <a:schemeClr val="bg1"/>
                </a:solidFill>
              </a:rPr>
              <a:t>Hold back</a:t>
            </a:r>
            <a:endParaRPr lang="en-US" sz="1500" dirty="0"/>
          </a:p>
        </p:txBody>
      </p:sp>
      <p:sp>
        <p:nvSpPr>
          <p:cNvPr id="22" name="Evidence card 1"/>
          <p:cNvSpPr/>
          <p:nvPr/>
        </p:nvSpPr>
        <p:spPr>
          <a:xfrm>
            <a:off x="548640" y="2514600"/>
            <a:ext cx="2606040" cy="3749040"/>
          </a:xfrm>
          <a:prstGeom prst="roundRect">
            <a:avLst>
              <a:gd name="adj" fmla="val 4211"/>
            </a:avLst>
          </a:prstGeom>
          <a:solidFill>
            <a:schemeClr val="tx2"/>
          </a:solidFill>
          <a:ln w="12700">
            <a:solidFill>
              <a:schemeClr val="tx2"/>
            </a:solidFill>
            <a:prstDash val="solid"/>
          </a:ln>
        </p:spPr>
      </p:sp>
      <p:sp>
        <p:nvSpPr>
          <p:cNvPr id="23" name="Evidence text 1"/>
          <p:cNvSpPr txBox="1"/>
          <p:nvPr/>
        </p:nvSpPr>
        <p:spPr>
          <a:xfrm>
            <a:off x="731520" y="2697480"/>
            <a:ext cx="2240280" cy="3017520"/>
          </a:xfrm>
          <a:prstGeom prst="rect">
            <a:avLst/>
          </a:prstGeom>
          <a:noFill/>
          <a:ln/>
        </p:spPr>
        <p:txBody>
          <a:bodyPr wrap="square" lIns="0" tIns="0" rIns="0" bIns="0" rtlCol="0" anchor="t"/>
          <a:lstStyle/>
          <a:p>
            <a:pPr indent="0" marL="0">
              <a:buNone/>
            </a:pPr>
            <a:r>
              <a:rPr lang="en-US" sz="1600" b="1" dirty="0">
                <a:solidFill>
                  <a:schemeClr val="accent1"/>
                </a:solidFill>
              </a:rPr>
              <a:t>Scanning</a:t>
            </a:r>
            <a:endParaRPr lang="en-US" sz="1600" dirty="0"/>
          </a:p>
          <a:p>
            <a:pPr indent="0" marL="0">
              <a:spcBef>
                <a:spcPts val="800"/>
              </a:spcBef>
              <a:buNone/>
            </a:pPr>
            <a:r>
              <a:rPr lang="en-US" sz="1100" b="1" dirty="0">
                <a:solidFill>
                  <a:schemeClr val="accent2"/>
                </a:solidFill>
              </a:rPr>
              <a:t>What they did</a:t>
            </a:r>
            <a:endParaRPr lang="en-US" sz="1600" dirty="0"/>
          </a:p>
          <a:p>
            <a:pPr indent="0" marL="0">
              <a:buNone/>
            </a:pPr>
            <a:r>
              <a:rPr lang="en-US" sz="1300" dirty="0">
                <a:solidFill>
                  <a:schemeClr val="bg2"/>
                </a:solidFill>
              </a:rPr>
              <a:t>Filmed 27 players at a Premier League club over 21 matches and counted every look over the shoulder before receiving the ball (9,574 possessions).</a:t>
            </a:r>
            <a:endParaRPr lang="en-US" sz="1600" dirty="0"/>
          </a:p>
          <a:p>
            <a:pPr indent="0" marL="0">
              <a:spcBef>
                <a:spcPts val="800"/>
              </a:spcBef>
              <a:buNone/>
            </a:pPr>
            <a:r>
              <a:rPr lang="en-US" sz="1100" b="1" dirty="0">
                <a:solidFill>
                  <a:schemeClr val="accent2"/>
                </a:solidFill>
              </a:rPr>
              <a:t>What they found</a:t>
            </a:r>
            <a:endParaRPr lang="en-US" sz="1600" dirty="0"/>
          </a:p>
          <a:p>
            <a:pPr indent="0" marL="0">
              <a:buNone/>
            </a:pPr>
            <a:r>
              <a:rPr lang="en-US" sz="1400" b="1" dirty="0">
                <a:solidFill>
                  <a:schemeClr val="bg1"/>
                </a:solidFill>
              </a:rPr>
              <a:t>Players who scanned more completed more passes.</a:t>
            </a:r>
            <a:endParaRPr lang="en-US" sz="1600" dirty="0"/>
          </a:p>
        </p:txBody>
      </p:sp>
      <p:sp>
        <p:nvSpPr>
          <p:cNvPr id="24" name="Evidence source 1"/>
          <p:cNvSpPr txBox="1"/>
          <p:nvPr/>
        </p:nvSpPr>
        <p:spPr>
          <a:xfrm>
            <a:off x="731520" y="5806440"/>
            <a:ext cx="224028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6" invalidUrl="" action="" tgtFrame="" tooltip="https://doi.org/10.3389/fpsyg.2020.553813" history="1" highlightClick="0" endSnd="0">
                  <a:extLst>
                    <a:ext uri="{A12FA001-AC4F-418D-AE19-62706E023703}">
                      <ahyp:hlinkClr xmlns:ahyp="http://schemas.microsoft.com/office/drawing/2018/hyperlinkcolor" val="tx"/>
                    </a:ext>
                  </a:extLst>
                </a:hlinkClick>
              </a:rPr>
              <a:t>Jordet et al. 2020 · Front. Psychol.</a:t>
            </a:r>
            <a:endParaRPr lang="en-US" sz="1100" dirty="0"/>
          </a:p>
        </p:txBody>
      </p:sp>
      <p:sp>
        <p:nvSpPr>
          <p:cNvPr id="25" name="Evidence card 2"/>
          <p:cNvSpPr/>
          <p:nvPr/>
        </p:nvSpPr>
        <p:spPr>
          <a:xfrm>
            <a:off x="3367735" y="2514600"/>
            <a:ext cx="2606040" cy="3749040"/>
          </a:xfrm>
          <a:prstGeom prst="roundRect">
            <a:avLst>
              <a:gd name="adj" fmla="val 4211"/>
            </a:avLst>
          </a:prstGeom>
          <a:solidFill>
            <a:schemeClr val="tx2"/>
          </a:solidFill>
          <a:ln w="12700">
            <a:solidFill>
              <a:schemeClr val="tx2"/>
            </a:solidFill>
            <a:prstDash val="solid"/>
          </a:ln>
        </p:spPr>
      </p:sp>
      <p:sp>
        <p:nvSpPr>
          <p:cNvPr id="26" name="Evidence text 2"/>
          <p:cNvSpPr txBox="1"/>
          <p:nvPr/>
        </p:nvSpPr>
        <p:spPr>
          <a:xfrm>
            <a:off x="3550615" y="2697480"/>
            <a:ext cx="2240280" cy="3017520"/>
          </a:xfrm>
          <a:prstGeom prst="rect">
            <a:avLst/>
          </a:prstGeom>
          <a:noFill/>
          <a:ln/>
        </p:spPr>
        <p:txBody>
          <a:bodyPr wrap="square" lIns="0" tIns="0" rIns="0" bIns="0" rtlCol="0" anchor="t"/>
          <a:lstStyle/>
          <a:p>
            <a:pPr indent="0" marL="0">
              <a:buNone/>
            </a:pPr>
            <a:r>
              <a:rPr lang="en-US" sz="1600" b="1" dirty="0">
                <a:solidFill>
                  <a:schemeClr val="accent1"/>
                </a:solidFill>
              </a:rPr>
              <a:t>Anticipation and decisions</a:t>
            </a:r>
            <a:endParaRPr lang="en-US" sz="1600" dirty="0"/>
          </a:p>
          <a:p>
            <a:pPr indent="0" marL="0">
              <a:spcBef>
                <a:spcPts val="800"/>
              </a:spcBef>
              <a:buNone/>
            </a:pPr>
            <a:r>
              <a:rPr lang="en-US" sz="1100" b="1" dirty="0">
                <a:solidFill>
                  <a:schemeClr val="accent2"/>
                </a:solidFill>
              </a:rPr>
              <a:t>What they did</a:t>
            </a:r>
            <a:endParaRPr lang="en-US" sz="1600" dirty="0"/>
          </a:p>
          <a:p>
            <a:pPr indent="0" marL="0">
              <a:buNone/>
            </a:pPr>
            <a:r>
              <a:rPr lang="en-US" sz="1300" dirty="0">
                <a:solidFill>
                  <a:schemeClr val="bg2"/>
                </a:solidFill>
              </a:rPr>
              <a:t>Players faced life-size 11 v 11 match clips that froze at a key moment, then had to predict the play and choose an action.</a:t>
            </a:r>
            <a:endParaRPr lang="en-US" sz="1600" dirty="0"/>
          </a:p>
          <a:p>
            <a:pPr indent="0" marL="0">
              <a:spcBef>
                <a:spcPts val="800"/>
              </a:spcBef>
              <a:buNone/>
            </a:pPr>
            <a:r>
              <a:rPr lang="en-US" sz="1100" b="1" dirty="0">
                <a:solidFill>
                  <a:schemeClr val="accent2"/>
                </a:solidFill>
              </a:rPr>
              <a:t>What they found</a:t>
            </a:r>
            <a:endParaRPr lang="en-US" sz="1600" dirty="0"/>
          </a:p>
          <a:p>
            <a:pPr indent="0" marL="0">
              <a:buNone/>
            </a:pPr>
            <a:r>
              <a:rPr lang="en-US" sz="1400" b="1" dirty="0">
                <a:solidFill>
                  <a:schemeClr val="bg1"/>
                </a:solidFill>
              </a:rPr>
              <a:t>Skilled players were right 68.8% of the time, less skilled 36.2%.</a:t>
            </a:r>
            <a:endParaRPr lang="en-US" sz="1600" dirty="0"/>
          </a:p>
        </p:txBody>
      </p:sp>
      <p:sp>
        <p:nvSpPr>
          <p:cNvPr id="27" name="Evidence source 2"/>
          <p:cNvSpPr txBox="1"/>
          <p:nvPr/>
        </p:nvSpPr>
        <p:spPr>
          <a:xfrm>
            <a:off x="3550615" y="5806440"/>
            <a:ext cx="224028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7" invalidUrl="" action="" tgtFrame="" tooltip="https://doi.org/10.1007/s10339-011-0392-1" history="1" highlightClick="0" endSnd="0">
                  <a:extLst>
                    <a:ext uri="{A12FA001-AC4F-418D-AE19-62706E023703}">
                      <ahyp:hlinkClr xmlns:ahyp="http://schemas.microsoft.com/office/drawing/2018/hyperlinkcolor" val="tx"/>
                    </a:ext>
                  </a:extLst>
                </a:hlinkClick>
              </a:rPr>
              <a:t>Roca et al. 2011 · Cognitive Processing</a:t>
            </a:r>
            <a:endParaRPr lang="en-US" sz="1100" dirty="0"/>
          </a:p>
        </p:txBody>
      </p:sp>
      <p:sp>
        <p:nvSpPr>
          <p:cNvPr id="28" name="Evidence card 3"/>
          <p:cNvSpPr/>
          <p:nvPr/>
        </p:nvSpPr>
        <p:spPr>
          <a:xfrm>
            <a:off x="6186830" y="2514600"/>
            <a:ext cx="2606040" cy="3749040"/>
          </a:xfrm>
          <a:prstGeom prst="roundRect">
            <a:avLst>
              <a:gd name="adj" fmla="val 4211"/>
            </a:avLst>
          </a:prstGeom>
          <a:solidFill>
            <a:schemeClr val="tx2"/>
          </a:solidFill>
          <a:ln w="12700">
            <a:solidFill>
              <a:schemeClr val="tx2"/>
            </a:solidFill>
            <a:prstDash val="solid"/>
          </a:ln>
        </p:spPr>
      </p:sp>
      <p:sp>
        <p:nvSpPr>
          <p:cNvPr id="29" name="Evidence text 3"/>
          <p:cNvSpPr txBox="1"/>
          <p:nvPr/>
        </p:nvSpPr>
        <p:spPr>
          <a:xfrm>
            <a:off x="6369710" y="2697480"/>
            <a:ext cx="2240280" cy="3017520"/>
          </a:xfrm>
          <a:prstGeom prst="rect">
            <a:avLst/>
          </a:prstGeom>
          <a:noFill/>
          <a:ln/>
        </p:spPr>
        <p:txBody>
          <a:bodyPr wrap="square" lIns="0" tIns="0" rIns="0" bIns="0" rtlCol="0" anchor="t"/>
          <a:lstStyle/>
          <a:p>
            <a:pPr indent="0" marL="0">
              <a:buNone/>
            </a:pPr>
            <a:r>
              <a:rPr lang="en-US" sz="1600" b="1" dirty="0">
                <a:solidFill>
                  <a:schemeClr val="accent1"/>
                </a:solidFill>
              </a:rPr>
              <a:t>Executive functions</a:t>
            </a:r>
            <a:endParaRPr lang="en-US" sz="1600" dirty="0"/>
          </a:p>
          <a:p>
            <a:pPr indent="0" marL="0">
              <a:spcBef>
                <a:spcPts val="800"/>
              </a:spcBef>
              <a:buNone/>
            </a:pPr>
            <a:r>
              <a:rPr lang="en-US" sz="1100" b="1" dirty="0">
                <a:solidFill>
                  <a:schemeClr val="accent2"/>
                </a:solidFill>
              </a:rPr>
              <a:t>What they did</a:t>
            </a:r>
            <a:endParaRPr lang="en-US" sz="1600" dirty="0"/>
          </a:p>
          <a:p>
            <a:pPr indent="0" marL="0">
              <a:buNone/>
            </a:pPr>
            <a:r>
              <a:rPr lang="en-US" sz="1300" dirty="0">
                <a:solidFill>
                  <a:schemeClr val="bg2"/>
                </a:solidFill>
              </a:rPr>
              <a:t>Gave Swedish top- and second-division players standard brain tests (creativity, inhibition, flexibility), then followed their goals and assists.</a:t>
            </a:r>
            <a:endParaRPr lang="en-US" sz="1600" dirty="0"/>
          </a:p>
          <a:p>
            <a:pPr indent="0" marL="0">
              <a:spcBef>
                <a:spcPts val="800"/>
              </a:spcBef>
              <a:buNone/>
            </a:pPr>
            <a:r>
              <a:rPr lang="en-US" sz="1100" b="1" dirty="0">
                <a:solidFill>
                  <a:schemeClr val="accent2"/>
                </a:solidFill>
              </a:rPr>
              <a:t>What they found</a:t>
            </a:r>
            <a:endParaRPr lang="en-US" sz="1600" dirty="0"/>
          </a:p>
          <a:p>
            <a:pPr indent="0" marL="0">
              <a:buNone/>
            </a:pPr>
            <a:r>
              <a:rPr lang="en-US" sz="1400" b="1" dirty="0">
                <a:solidFill>
                  <a:schemeClr val="bg1"/>
                </a:solidFill>
              </a:rPr>
              <a:t>Better test scores predicted more goals and assists two seasons later.</a:t>
            </a:r>
            <a:endParaRPr lang="en-US" sz="1600" dirty="0"/>
          </a:p>
        </p:txBody>
      </p:sp>
      <p:sp>
        <p:nvSpPr>
          <p:cNvPr id="30" name="Evidence source 3"/>
          <p:cNvSpPr txBox="1"/>
          <p:nvPr/>
        </p:nvSpPr>
        <p:spPr>
          <a:xfrm>
            <a:off x="6369710" y="5806440"/>
            <a:ext cx="224028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8" invalidUrl="" action="" tgtFrame="" tooltip="https://doi.org/10.1371/journal.pone.0034731" history="1" highlightClick="0" endSnd="0">
                  <a:extLst>
                    <a:ext uri="{A12FA001-AC4F-418D-AE19-62706E023703}">
                      <ahyp:hlinkClr xmlns:ahyp="http://schemas.microsoft.com/office/drawing/2018/hyperlinkcolor" val="tx"/>
                    </a:ext>
                  </a:extLst>
                </a:hlinkClick>
              </a:rPr>
              <a:t>Vestberg et al. 2012 · PLoS ONE</a:t>
            </a:r>
            <a:endParaRPr lang="en-US" sz="1100" dirty="0"/>
          </a:p>
        </p:txBody>
      </p:sp>
      <p:sp>
        <p:nvSpPr>
          <p:cNvPr id="31" name="Evidence card 4"/>
          <p:cNvSpPr/>
          <p:nvPr/>
        </p:nvSpPr>
        <p:spPr>
          <a:xfrm>
            <a:off x="9005926" y="2514600"/>
            <a:ext cx="2606040" cy="3749040"/>
          </a:xfrm>
          <a:prstGeom prst="roundRect">
            <a:avLst>
              <a:gd name="adj" fmla="val 4211"/>
            </a:avLst>
          </a:prstGeom>
          <a:solidFill>
            <a:schemeClr val="tx2"/>
          </a:solidFill>
          <a:ln w="12700">
            <a:solidFill>
              <a:schemeClr val="tx2"/>
            </a:solidFill>
            <a:prstDash val="solid"/>
          </a:ln>
        </p:spPr>
      </p:sp>
      <p:sp>
        <p:nvSpPr>
          <p:cNvPr id="32" name="Evidence text 4"/>
          <p:cNvSpPr txBox="1"/>
          <p:nvPr/>
        </p:nvSpPr>
        <p:spPr>
          <a:xfrm>
            <a:off x="9188806" y="2697480"/>
            <a:ext cx="2240280" cy="3017520"/>
          </a:xfrm>
          <a:prstGeom prst="rect">
            <a:avLst/>
          </a:prstGeom>
          <a:noFill/>
          <a:ln/>
        </p:spPr>
        <p:txBody>
          <a:bodyPr wrap="square" lIns="0" tIns="0" rIns="0" bIns="0" rtlCol="0" anchor="t"/>
          <a:lstStyle/>
          <a:p>
            <a:pPr indent="0" marL="0">
              <a:buNone/>
            </a:pPr>
            <a:r>
              <a:rPr lang="en-US" sz="1600" b="1" dirty="0">
                <a:solidFill>
                  <a:schemeClr val="accent1"/>
                </a:solidFill>
              </a:rPr>
              <a:t>Inhibition and flexibility</a:t>
            </a:r>
            <a:endParaRPr lang="en-US" sz="1600" dirty="0"/>
          </a:p>
          <a:p>
            <a:pPr indent="0" marL="0">
              <a:spcBef>
                <a:spcPts val="800"/>
              </a:spcBef>
              <a:buNone/>
            </a:pPr>
            <a:r>
              <a:rPr lang="en-US" sz="1100" b="1" dirty="0">
                <a:solidFill>
                  <a:schemeClr val="accent2"/>
                </a:solidFill>
              </a:rPr>
              <a:t>What they did</a:t>
            </a:r>
            <a:endParaRPr lang="en-US" sz="1600" dirty="0"/>
          </a:p>
          <a:p>
            <a:pPr indent="0" marL="0">
              <a:buNone/>
            </a:pPr>
            <a:r>
              <a:rPr lang="en-US" sz="1300" dirty="0">
                <a:solidFill>
                  <a:schemeClr val="bg2"/>
                </a:solidFill>
              </a:rPr>
              <a:t>Tested 88 youth players aged 13–17, elite and sub-elite, on memory, inhibition, flexibility and planning tasks.</a:t>
            </a:r>
            <a:endParaRPr lang="en-US" sz="1600" dirty="0"/>
          </a:p>
          <a:p>
            <a:pPr indent="0" marL="0">
              <a:spcBef>
                <a:spcPts val="800"/>
              </a:spcBef>
              <a:buNone/>
            </a:pPr>
            <a:r>
              <a:rPr lang="en-US" sz="1100" b="1" dirty="0">
                <a:solidFill>
                  <a:schemeClr val="accent2"/>
                </a:solidFill>
              </a:rPr>
              <a:t>What they found</a:t>
            </a:r>
            <a:endParaRPr lang="en-US" sz="1600" dirty="0"/>
          </a:p>
          <a:p>
            <a:pPr indent="0" marL="0">
              <a:buNone/>
            </a:pPr>
            <a:r>
              <a:rPr lang="en-US" sz="1400" b="1" dirty="0">
                <a:solidFill>
                  <a:schemeClr val="bg1"/>
                </a:solidFill>
              </a:rPr>
              <a:t>Elite players were better at inhibition and flexibility, even after accounting for training hours.</a:t>
            </a:r>
            <a:endParaRPr lang="en-US" sz="1600" dirty="0"/>
          </a:p>
        </p:txBody>
      </p:sp>
      <p:sp>
        <p:nvSpPr>
          <p:cNvPr id="33" name="Evidence source 4"/>
          <p:cNvSpPr txBox="1"/>
          <p:nvPr/>
        </p:nvSpPr>
        <p:spPr>
          <a:xfrm>
            <a:off x="9188806" y="5806440"/>
            <a:ext cx="224028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9" invalidUrl="" action="" tgtFrame="" tooltip="https://doi.org/10.1371/journal.pone.0144580" history="1" highlightClick="0" endSnd="0">
                  <a:extLst>
                    <a:ext uri="{A12FA001-AC4F-418D-AE19-62706E023703}">
                      <ahyp:hlinkClr xmlns:ahyp="http://schemas.microsoft.com/office/drawing/2018/hyperlinkcolor" val="tx"/>
                    </a:ext>
                  </a:extLst>
                </a:hlinkClick>
              </a:rPr>
              <a:t>Huijgen et al. 2015 · PLoS ONE</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These skills can be trained</a:t>
            </a:r>
            <a:endParaRPr lang="en-US" sz="3400" dirty="0"/>
          </a:p>
        </p:txBody>
      </p:sp>
      <p:sp>
        <p:nvSpPr>
          <p:cNvPr id="3" name="Study card 1"/>
          <p:cNvSpPr/>
          <p:nvPr/>
        </p:nvSpPr>
        <p:spPr>
          <a:xfrm>
            <a:off x="548640" y="1280160"/>
            <a:ext cx="3520440" cy="3520440"/>
          </a:xfrm>
          <a:prstGeom prst="roundRect">
            <a:avLst>
              <a:gd name="adj" fmla="val 3117"/>
            </a:avLst>
          </a:prstGeom>
          <a:solidFill>
            <a:schemeClr val="tx2"/>
          </a:solidFill>
          <a:ln w="12700">
            <a:solidFill>
              <a:schemeClr val="tx2"/>
            </a:solidFill>
            <a:prstDash val="solid"/>
          </a:ln>
        </p:spPr>
      </p:sp>
      <p:sp>
        <p:nvSpPr>
          <p:cNvPr id="4" name="Study text 1"/>
          <p:cNvSpPr txBox="1"/>
          <p:nvPr/>
        </p:nvSpPr>
        <p:spPr>
          <a:xfrm>
            <a:off x="777240" y="1481328"/>
            <a:ext cx="3063240" cy="2788920"/>
          </a:xfrm>
          <a:prstGeom prst="rect">
            <a:avLst/>
          </a:prstGeom>
          <a:noFill/>
          <a:ln/>
        </p:spPr>
        <p:txBody>
          <a:bodyPr wrap="square" lIns="0" tIns="0" rIns="0" bIns="0" rtlCol="0" anchor="t"/>
          <a:lstStyle/>
          <a:p>
            <a:pPr indent="0" marL="0">
              <a:buNone/>
            </a:pPr>
            <a:r>
              <a:rPr lang="en-US" sz="2100" b="1" dirty="0">
                <a:solidFill>
                  <a:schemeClr val="accent1"/>
                </a:solidFill>
                <a:latin typeface="Arial" pitchFamily="34" charset="0"/>
                <a:ea typeface="Arial" pitchFamily="34" charset="-122"/>
                <a:cs typeface="Arial" pitchFamily="34" charset="-120"/>
              </a:rPr>
              <a:t>Better, faster decisions</a:t>
            </a:r>
            <a:endParaRPr lang="en-US" sz="2100" dirty="0"/>
          </a:p>
          <a:p>
            <a:pPr indent="0" marL="0">
              <a:spcBef>
                <a:spcPts val="400"/>
              </a:spcBef>
              <a:buNone/>
            </a:pPr>
            <a:r>
              <a:rPr lang="en-US" sz="1200" b="1" dirty="0">
                <a:solidFill>
                  <a:schemeClr val="accent2"/>
                </a:solidFill>
              </a:rPr>
              <a:t>Video training · 6 weeks</a:t>
            </a:r>
            <a:endParaRPr lang="en-US" sz="2100" dirty="0"/>
          </a:p>
          <a:p>
            <a:pPr indent="0" marL="0">
              <a:spcBef>
                <a:spcPts val="800"/>
              </a:spcBef>
              <a:buNone/>
            </a:pPr>
            <a:r>
              <a:rPr lang="en-US" sz="1300" dirty="0">
                <a:solidFill>
                  <a:schemeClr val="bg2"/>
                </a:solidFill>
              </a:rPr>
              <a:t>Academy players (about 14 years old) watched match clips that stopped at the key moment and chose what to do, twice a week.</a:t>
            </a:r>
            <a:endParaRPr lang="en-US" sz="2100" dirty="0"/>
          </a:p>
          <a:p>
            <a:pPr indent="0" marL="0">
              <a:spcBef>
                <a:spcPts val="800"/>
              </a:spcBef>
              <a:buNone/>
            </a:pPr>
            <a:r>
              <a:rPr lang="en-US" sz="1400" b="1" dirty="0">
                <a:solidFill>
                  <a:schemeClr val="bg1"/>
                </a:solidFill>
              </a:rPr>
              <a:t>More correct decisions and faster answers (0.41 s to 0.31 s). The group without this training didn't improve.</a:t>
            </a:r>
            <a:endParaRPr lang="en-US" sz="2100" dirty="0"/>
          </a:p>
        </p:txBody>
      </p:sp>
      <p:sp>
        <p:nvSpPr>
          <p:cNvPr id="5" name="Study source 1"/>
          <p:cNvSpPr txBox="1"/>
          <p:nvPr/>
        </p:nvSpPr>
        <p:spPr>
          <a:xfrm>
            <a:off x="777240" y="4343400"/>
            <a:ext cx="306324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1" invalidUrl="" action="" tgtFrame="" tooltip="https://doi.org/10.3390/sports4010001" history="1" highlightClick="0" endSnd="0">
                  <a:extLst>
                    <a:ext uri="{A12FA001-AC4F-418D-AE19-62706E023703}">
                      <ahyp:hlinkClr xmlns:ahyp="http://schemas.microsoft.com/office/drawing/2018/hyperlinkcolor" val="tx"/>
                    </a:ext>
                  </a:extLst>
                </a:hlinkClick>
              </a:rPr>
              <a:t>Nimmerichter et al. 2016 · Sports</a:t>
            </a:r>
            <a:endParaRPr lang="en-US" sz="1100" dirty="0"/>
          </a:p>
        </p:txBody>
      </p:sp>
      <p:sp>
        <p:nvSpPr>
          <p:cNvPr id="6" name="Study card 2"/>
          <p:cNvSpPr/>
          <p:nvPr/>
        </p:nvSpPr>
        <p:spPr>
          <a:xfrm>
            <a:off x="4320540" y="1280160"/>
            <a:ext cx="3520440" cy="3520440"/>
          </a:xfrm>
          <a:prstGeom prst="roundRect">
            <a:avLst>
              <a:gd name="adj" fmla="val 3117"/>
            </a:avLst>
          </a:prstGeom>
          <a:solidFill>
            <a:schemeClr val="tx2"/>
          </a:solidFill>
          <a:ln w="12700">
            <a:solidFill>
              <a:schemeClr val="tx2"/>
            </a:solidFill>
            <a:prstDash val="solid"/>
          </a:ln>
        </p:spPr>
      </p:sp>
      <p:sp>
        <p:nvSpPr>
          <p:cNvPr id="7" name="Study text 2"/>
          <p:cNvSpPr txBox="1"/>
          <p:nvPr/>
        </p:nvSpPr>
        <p:spPr>
          <a:xfrm>
            <a:off x="4549140" y="1481328"/>
            <a:ext cx="3063240" cy="2788920"/>
          </a:xfrm>
          <a:prstGeom prst="rect">
            <a:avLst/>
          </a:prstGeom>
          <a:noFill/>
          <a:ln/>
        </p:spPr>
        <p:txBody>
          <a:bodyPr wrap="square" lIns="0" tIns="0" rIns="0" bIns="0" rtlCol="0" anchor="t"/>
          <a:lstStyle/>
          <a:p>
            <a:pPr indent="0" marL="0">
              <a:buNone/>
            </a:pPr>
            <a:r>
              <a:rPr lang="en-US" sz="2100" b="1" dirty="0">
                <a:solidFill>
                  <a:schemeClr val="accent1"/>
                </a:solidFill>
                <a:latin typeface="Arial" pitchFamily="34" charset="0"/>
                <a:ea typeface="Arial" pitchFamily="34" charset="-122"/>
                <a:cs typeface="Arial" pitchFamily="34" charset="-120"/>
              </a:rPr>
              <a:t>Scanning more than doubled</a:t>
            </a:r>
            <a:endParaRPr lang="en-US" sz="2100" dirty="0"/>
          </a:p>
          <a:p>
            <a:pPr indent="0" marL="0">
              <a:spcBef>
                <a:spcPts val="400"/>
              </a:spcBef>
              <a:buNone/>
            </a:pPr>
            <a:r>
              <a:rPr lang="en-US" sz="1200" b="1" dirty="0">
                <a:solidFill>
                  <a:schemeClr val="accent2"/>
                </a:solidFill>
              </a:rPr>
              <a:t>VR training · 7 weeks</a:t>
            </a:r>
            <a:endParaRPr lang="en-US" sz="2100" dirty="0"/>
          </a:p>
          <a:p>
            <a:pPr indent="0" marL="0">
              <a:spcBef>
                <a:spcPts val="800"/>
              </a:spcBef>
              <a:buNone/>
            </a:pPr>
            <a:r>
              <a:rPr lang="en-US" sz="1300" dirty="0">
                <a:solidFill>
                  <a:schemeClr val="bg2"/>
                </a:solidFill>
              </a:rPr>
              <a:t>U16–U17 players added VR drills for scanning and passing, three times a week, compared with a group that trained normally.</a:t>
            </a:r>
            <a:endParaRPr lang="en-US" sz="2100" dirty="0"/>
          </a:p>
          <a:p>
            <a:pPr indent="0" marL="0">
              <a:spcBef>
                <a:spcPts val="800"/>
              </a:spcBef>
              <a:buNone/>
            </a:pPr>
            <a:r>
              <a:rPr lang="en-US" sz="1400" b="1" dirty="0">
                <a:solidFill>
                  <a:schemeClr val="bg1"/>
                </a:solidFill>
              </a:rPr>
              <a:t>Looks over the shoulder before receiving the ball rose from 18 to 43 on average.</a:t>
            </a:r>
            <a:endParaRPr lang="en-US" sz="2100" dirty="0"/>
          </a:p>
        </p:txBody>
      </p:sp>
      <p:sp>
        <p:nvSpPr>
          <p:cNvPr id="8" name="Study source 2"/>
          <p:cNvSpPr txBox="1"/>
          <p:nvPr/>
        </p:nvSpPr>
        <p:spPr>
          <a:xfrm>
            <a:off x="4549140" y="4343400"/>
            <a:ext cx="306324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2" invalidUrl="" action="" tgtFrame="" tooltip="https://doi.org/10.1186/s13102-025-01425-7" history="1" highlightClick="0" endSnd="0">
                  <a:extLst>
                    <a:ext uri="{A12FA001-AC4F-418D-AE19-62706E023703}">
                      <ahyp:hlinkClr xmlns:ahyp="http://schemas.microsoft.com/office/drawing/2018/hyperlinkcolor" val="tx"/>
                    </a:ext>
                  </a:extLst>
                </a:hlinkClick>
              </a:rPr>
              <a:t>Erisik et al. 2025 · BMC Sports Sci Med Rehabil</a:t>
            </a:r>
            <a:endParaRPr lang="en-US" sz="1100" dirty="0"/>
          </a:p>
        </p:txBody>
      </p:sp>
      <p:sp>
        <p:nvSpPr>
          <p:cNvPr id="9" name="Study card 3"/>
          <p:cNvSpPr/>
          <p:nvPr/>
        </p:nvSpPr>
        <p:spPr>
          <a:xfrm>
            <a:off x="8092440" y="1280160"/>
            <a:ext cx="3520440" cy="3520440"/>
          </a:xfrm>
          <a:prstGeom prst="roundRect">
            <a:avLst>
              <a:gd name="adj" fmla="val 3117"/>
            </a:avLst>
          </a:prstGeom>
          <a:solidFill>
            <a:schemeClr val="tx2"/>
          </a:solidFill>
          <a:ln w="12700">
            <a:solidFill>
              <a:schemeClr val="tx2"/>
            </a:solidFill>
            <a:prstDash val="solid"/>
          </a:ln>
        </p:spPr>
      </p:sp>
      <p:sp>
        <p:nvSpPr>
          <p:cNvPr id="10" name="Study text 3"/>
          <p:cNvSpPr txBox="1"/>
          <p:nvPr/>
        </p:nvSpPr>
        <p:spPr>
          <a:xfrm>
            <a:off x="8321040" y="1481328"/>
            <a:ext cx="3063240" cy="2788920"/>
          </a:xfrm>
          <a:prstGeom prst="rect">
            <a:avLst/>
          </a:prstGeom>
          <a:noFill/>
          <a:ln/>
        </p:spPr>
        <p:txBody>
          <a:bodyPr wrap="square" lIns="0" tIns="0" rIns="0" bIns="0" rtlCol="0" anchor="t"/>
          <a:lstStyle/>
          <a:p>
            <a:pPr indent="0" marL="0">
              <a:buNone/>
            </a:pPr>
            <a:r>
              <a:rPr lang="en-US" sz="2100" b="1" dirty="0">
                <a:solidFill>
                  <a:schemeClr val="accent1"/>
                </a:solidFill>
                <a:latin typeface="Arial" pitchFamily="34" charset="0"/>
                <a:ea typeface="Arial" pitchFamily="34" charset="-122"/>
                <a:cs typeface="Arial" pitchFamily="34" charset="-120"/>
              </a:rPr>
              <a:t>Best when it looks real</a:t>
            </a:r>
            <a:endParaRPr lang="en-US" sz="2100" dirty="0"/>
          </a:p>
          <a:p>
            <a:pPr indent="0" marL="0">
              <a:spcBef>
                <a:spcPts val="400"/>
              </a:spcBef>
              <a:buNone/>
            </a:pPr>
            <a:r>
              <a:rPr lang="en-US" sz="1200" b="1" dirty="0">
                <a:solidFill>
                  <a:schemeClr val="accent2"/>
                </a:solidFill>
              </a:rPr>
              <a:t>Review of 22 studies</a:t>
            </a:r>
            <a:endParaRPr lang="en-US" sz="2100" dirty="0"/>
          </a:p>
          <a:p>
            <a:pPr indent="0" marL="0">
              <a:spcBef>
                <a:spcPts val="800"/>
              </a:spcBef>
              <a:buNone/>
            </a:pPr>
            <a:r>
              <a:rPr lang="en-US" sz="1300" dirty="0">
                <a:solidFill>
                  <a:schemeClr val="bg2"/>
                </a:solidFill>
              </a:rPr>
              <a:t>Combined the results of 22 training studies in team sports.</a:t>
            </a:r>
            <a:endParaRPr lang="en-US" sz="2100" dirty="0"/>
          </a:p>
          <a:p>
            <a:pPr indent="0" marL="0">
              <a:spcBef>
                <a:spcPts val="800"/>
              </a:spcBef>
              <a:buNone/>
            </a:pPr>
            <a:r>
              <a:rPr lang="en-US" sz="1400" b="1" dirty="0">
                <a:solidFill>
                  <a:schemeClr val="bg1"/>
                </a:solidFill>
              </a:rPr>
              <a:t>Training helps, but the gain in real games is only about half the gain in lab tests. Game-like training works best.</a:t>
            </a:r>
            <a:endParaRPr lang="en-US" sz="2100" dirty="0"/>
          </a:p>
        </p:txBody>
      </p:sp>
      <p:sp>
        <p:nvSpPr>
          <p:cNvPr id="11" name="Study source 3"/>
          <p:cNvSpPr txBox="1"/>
          <p:nvPr/>
        </p:nvSpPr>
        <p:spPr>
          <a:xfrm>
            <a:off x="8321040" y="4343400"/>
            <a:ext cx="3063240" cy="320040"/>
          </a:xfrm>
          <a:prstGeom prst="rect">
            <a:avLst/>
          </a:prstGeom>
          <a:noFill/>
          <a:ln/>
        </p:spPr>
        <p:txBody>
          <a:bodyPr wrap="square" lIns="0" tIns="0" rIns="0" bIns="0" rtlCol="0" anchor="ctr"/>
          <a:lstStyle/>
          <a:p>
            <a:pPr indent="0" marL="0">
              <a:buNone/>
            </a:pPr>
            <a:r>
              <a:rPr lang="en-US" sz="1100" u="sng" dirty="0">
                <a:solidFill>
                  <a:srgbClr val="22D3EE"/>
                </a:solidFill>
                <a:hlinkClick r:id="rId3" invalidUrl="" action="" tgtFrame="" tooltip="https://doi.org/10.3390/bs14100919" history="1" highlightClick="0" endSnd="0">
                  <a:extLst>
                    <a:ext uri="{A12FA001-AC4F-418D-AE19-62706E023703}">
                      <ahyp:hlinkClr xmlns:ahyp="http://schemas.microsoft.com/office/drawing/2018/hyperlinkcolor" val="tx"/>
                    </a:ext>
                  </a:extLst>
                </a:hlinkClick>
              </a:rPr>
              <a:t>Zhu et al. 2024 · Behavioral Sciences</a:t>
            </a:r>
            <a:endParaRPr lang="en-US" sz="1100" dirty="0"/>
          </a:p>
        </p:txBody>
      </p:sp>
      <p:sp>
        <p:nvSpPr>
          <p:cNvPr id="12" name="Rule banner"/>
          <p:cNvSpPr/>
          <p:nvPr/>
        </p:nvSpPr>
        <p:spPr>
          <a:xfrm>
            <a:off x="548640" y="4983480"/>
            <a:ext cx="11064240" cy="640080"/>
          </a:xfrm>
          <a:prstGeom prst="roundRect">
            <a:avLst>
              <a:gd name="adj" fmla="val 17143"/>
            </a:avLst>
          </a:prstGeom>
          <a:solidFill>
            <a:schemeClr val="accent1"/>
          </a:solidFill>
          <a:ln w="12700">
            <a:solidFill>
              <a:schemeClr val="accent1"/>
            </a:solidFill>
            <a:prstDash val="solid"/>
          </a:ln>
        </p:spPr>
      </p:sp>
      <p:sp>
        <p:nvSpPr>
          <p:cNvPr id="13" name="Rule text"/>
          <p:cNvSpPr txBox="1"/>
          <p:nvPr/>
        </p:nvSpPr>
        <p:spPr>
          <a:xfrm>
            <a:off x="777240" y="4983480"/>
            <a:ext cx="10607040" cy="640080"/>
          </a:xfrm>
          <a:prstGeom prst="rect">
            <a:avLst/>
          </a:prstGeom>
          <a:noFill/>
          <a:ln/>
        </p:spPr>
        <p:txBody>
          <a:bodyPr wrap="square" lIns="0" tIns="0" rIns="0" bIns="0" rtlCol="0" anchor="ctr"/>
          <a:lstStyle/>
          <a:p>
            <a:pPr indent="0" marL="0">
              <a:buNone/>
            </a:pPr>
            <a:r>
              <a:rPr lang="en-US" sz="2000" b="1" dirty="0">
                <a:solidFill>
                  <a:schemeClr val="tx1"/>
                </a:solidFill>
              </a:rPr>
              <a:t>Our design rule: training transfers best when it looks like the real game</a:t>
            </a:r>
            <a:endParaRPr lang="en-US" sz="2000" dirty="0"/>
          </a:p>
        </p:txBody>
      </p:sp>
      <p:sp>
        <p:nvSpPr>
          <p:cNvPr id="14" name="Warning line"/>
          <p:cNvSpPr txBox="1"/>
          <p:nvPr/>
        </p:nvSpPr>
        <p:spPr>
          <a:xfrm>
            <a:off x="548640" y="5779008"/>
            <a:ext cx="11064240" cy="365760"/>
          </a:xfrm>
          <a:prstGeom prst="rect">
            <a:avLst/>
          </a:prstGeom>
          <a:noFill/>
          <a:ln/>
        </p:spPr>
        <p:txBody>
          <a:bodyPr wrap="square" lIns="0" tIns="0" rIns="0" bIns="0" rtlCol="0" anchor="ctr"/>
          <a:lstStyle/>
          <a:p>
            <a:pPr indent="0" marL="0">
              <a:buNone/>
            </a:pPr>
            <a:r>
              <a:rPr lang="en-US" sz="1200" dirty="0">
                <a:solidFill>
                  <a:schemeClr val="bg2"/>
                </a:solidFill>
              </a:rPr>
              <a:t>Warning sign: a generic tracking task that once improved passing decisions </a:t>
            </a:r>
            <a:pPr indent="0" marL="0">
              <a:buNone/>
            </a:pPr>
            <a:r>
              <a:rPr lang="en-US" sz="1200" u="sng" dirty="0">
                <a:solidFill>
                  <a:srgbClr val="22D3EE"/>
                </a:solidFill>
                <a:hlinkClick r:id="rId4" invalidUrl="" action="" tgtFrame="" tooltip="https://doi.org/10.1016/j.psychsport.2015.06.002" history="1" highlightClick="0" endSnd="0">
                  <a:extLst>
                    <a:ext uri="{A12FA001-AC4F-418D-AE19-62706E023703}">
                      <ahyp:hlinkClr xmlns:ahyp="http://schemas.microsoft.com/office/drawing/2018/hyperlinkcolor" val="tx"/>
                    </a:ext>
                  </a:extLst>
                </a:hlinkClick>
              </a:rPr>
              <a:t>(Romeas et al. 2016)</a:t>
            </a:r>
            <a:pPr indent="0" marL="0">
              <a:buNone/>
            </a:pPr>
            <a:r>
              <a:rPr lang="en-US" sz="1200" dirty="0">
                <a:solidFill>
                  <a:schemeClr val="bg2"/>
                </a:solidFill>
              </a:rPr>
              <a:t> did not transfer in a follow-up with 62 academy players </a:t>
            </a:r>
            <a:pPr indent="0" marL="0">
              <a:buNone/>
            </a:pPr>
            <a:r>
              <a:rPr lang="en-US" sz="1200" u="sng" dirty="0">
                <a:solidFill>
                  <a:srgbClr val="22D3EE"/>
                </a:solidFill>
                <a:hlinkClick r:id="rId5" invalidUrl="" action="" tgtFrame="" tooltip="https://pure.etsmtl.ca/en/publications/no-transfer-of-3d-multiple-object-tracking-training-on-game-perfo/" history="1" highlightClick="0" endSnd="0">
                  <a:extLst>
                    <a:ext uri="{A12FA001-AC4F-418D-AE19-62706E023703}">
                      <ahyp:hlinkClr xmlns:ahyp="http://schemas.microsoft.com/office/drawing/2018/hyperlinkcolor" val="tx"/>
                    </a:ext>
                  </a:extLst>
                </a:hlinkClick>
              </a:rPr>
              <a:t>(Romeas et al., follow-up)</a:t>
            </a:r>
            <a:endParaRPr lang="en-US" sz="12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The idea: Scan &amp; Play</a:t>
            </a:r>
            <a:endParaRPr lang="en-US" sz="3400" dirty="0"/>
          </a:p>
        </p:txBody>
      </p:sp>
      <p:sp>
        <p:nvSpPr>
          <p:cNvPr id="3" name="Step card 1"/>
          <p:cNvSpPr/>
          <p:nvPr/>
        </p:nvSpPr>
        <p:spPr>
          <a:xfrm>
            <a:off x="548640" y="1325880"/>
            <a:ext cx="7223760" cy="987552"/>
          </a:xfrm>
          <a:prstGeom prst="roundRect">
            <a:avLst>
              <a:gd name="adj" fmla="val 11111"/>
            </a:avLst>
          </a:prstGeom>
          <a:solidFill>
            <a:schemeClr val="tx2"/>
          </a:solidFill>
          <a:ln w="12700">
            <a:solidFill>
              <a:schemeClr val="tx2"/>
            </a:solidFill>
            <a:prstDash val="solid"/>
          </a:ln>
        </p:spPr>
      </p:sp>
      <p:sp>
        <p:nvSpPr>
          <p:cNvPr id="4" name="Step circle 1"/>
          <p:cNvSpPr/>
          <p:nvPr/>
        </p:nvSpPr>
        <p:spPr>
          <a:xfrm>
            <a:off x="749808" y="1499616"/>
            <a:ext cx="640080" cy="640080"/>
          </a:xfrm>
          <a:prstGeom prst="ellipse">
            <a:avLst/>
          </a:prstGeom>
          <a:solidFill>
            <a:schemeClr val="tx1"/>
          </a:solidFill>
          <a:ln w="25400">
            <a:solidFill>
              <a:schemeClr val="accent1"/>
            </a:solidFill>
            <a:prstDash val="solid"/>
          </a:ln>
        </p:spPr>
      </p:sp>
      <p:pic>
        <p:nvPicPr>
          <p:cNvPr id="5" name="Step icon 1" descr="preencoded.png">    </p:cNvPr>
          <p:cNvPicPr>
            <a:picLocks noChangeAspect="1"/>
          </p:cNvPicPr>
          <p:nvPr/>
        </p:nvPicPr>
        <p:blipFill>
          <a:blip r:embed="rId1"/>
          <a:stretch>
            <a:fillRect/>
          </a:stretch>
        </p:blipFill>
        <p:spPr>
          <a:xfrm>
            <a:off x="905256" y="1655064"/>
            <a:ext cx="329184" cy="329184"/>
          </a:xfrm>
          <a:prstGeom prst="rect">
            <a:avLst/>
          </a:prstGeom>
        </p:spPr>
      </p:pic>
      <p:sp>
        <p:nvSpPr>
          <p:cNvPr id="6" name="Step text 1"/>
          <p:cNvSpPr txBox="1"/>
          <p:nvPr/>
        </p:nvSpPr>
        <p:spPr>
          <a:xfrm>
            <a:off x="1600200" y="1417320"/>
            <a:ext cx="5989320" cy="804672"/>
          </a:xfrm>
          <a:prstGeom prst="rect">
            <a:avLst/>
          </a:prstGeom>
          <a:noFill/>
          <a:ln/>
        </p:spPr>
        <p:txBody>
          <a:bodyPr wrap="square" lIns="0" tIns="0" rIns="0" bIns="0" rtlCol="0" anchor="ctr"/>
          <a:lstStyle/>
          <a:p>
            <a:pPr indent="0" marL="0">
              <a:buNone/>
            </a:pPr>
            <a:r>
              <a:rPr lang="en-US" sz="1800" b="1" dirty="0">
                <a:solidFill>
                  <a:schemeClr val="bg1"/>
                </a:solidFill>
              </a:rPr>
              <a:t>1. Scan</a:t>
            </a:r>
            <a:pPr indent="0" marL="0">
              <a:buNone/>
            </a:pPr>
            <a:r>
              <a:rPr lang="en-US" sz="1300" b="1" dirty="0">
                <a:solidFill>
                  <a:schemeClr val="accent2"/>
                </a:solidFill>
              </a:rPr>
              <a:t>   Attention</a:t>
            </a:r>
            <a:endParaRPr lang="en-US" sz="1800" dirty="0"/>
          </a:p>
          <a:p>
            <a:pPr indent="0" marL="0">
              <a:buNone/>
            </a:pPr>
            <a:r>
              <a:rPr lang="en-US" sz="1400" dirty="0">
                <a:solidFill>
                  <a:schemeClr val="bg2"/>
                </a:solidFill>
              </a:rPr>
              <a:t>The ball comes to you. Drag to look around: you only see where you look.</a:t>
            </a:r>
            <a:endParaRPr lang="en-US" sz="1800" dirty="0"/>
          </a:p>
        </p:txBody>
      </p:sp>
      <p:sp>
        <p:nvSpPr>
          <p:cNvPr id="7" name="Step card 2"/>
          <p:cNvSpPr/>
          <p:nvPr/>
        </p:nvSpPr>
        <p:spPr>
          <a:xfrm>
            <a:off x="548640" y="2468880"/>
            <a:ext cx="7223760" cy="987552"/>
          </a:xfrm>
          <a:prstGeom prst="roundRect">
            <a:avLst>
              <a:gd name="adj" fmla="val 11111"/>
            </a:avLst>
          </a:prstGeom>
          <a:solidFill>
            <a:schemeClr val="tx2"/>
          </a:solidFill>
          <a:ln w="12700">
            <a:solidFill>
              <a:schemeClr val="tx2"/>
            </a:solidFill>
            <a:prstDash val="solid"/>
          </a:ln>
        </p:spPr>
      </p:sp>
      <p:sp>
        <p:nvSpPr>
          <p:cNvPr id="8" name="Step circle 2"/>
          <p:cNvSpPr/>
          <p:nvPr/>
        </p:nvSpPr>
        <p:spPr>
          <a:xfrm>
            <a:off x="749808" y="2642616"/>
            <a:ext cx="640080" cy="640080"/>
          </a:xfrm>
          <a:prstGeom prst="ellipse">
            <a:avLst/>
          </a:prstGeom>
          <a:solidFill>
            <a:schemeClr val="tx1"/>
          </a:solidFill>
          <a:ln w="25400">
            <a:solidFill>
              <a:schemeClr val="accent1"/>
            </a:solidFill>
            <a:prstDash val="solid"/>
          </a:ln>
        </p:spPr>
      </p:sp>
      <p:pic>
        <p:nvPicPr>
          <p:cNvPr id="9" name="Step icon 2" descr="preencoded.png">    </p:cNvPr>
          <p:cNvPicPr>
            <a:picLocks noChangeAspect="1"/>
          </p:cNvPicPr>
          <p:nvPr/>
        </p:nvPicPr>
        <p:blipFill>
          <a:blip r:embed="rId2"/>
          <a:stretch>
            <a:fillRect/>
          </a:stretch>
        </p:blipFill>
        <p:spPr>
          <a:xfrm>
            <a:off x="905256" y="2798064"/>
            <a:ext cx="329184" cy="329184"/>
          </a:xfrm>
          <a:prstGeom prst="rect">
            <a:avLst/>
          </a:prstGeom>
        </p:spPr>
      </p:pic>
      <p:sp>
        <p:nvSpPr>
          <p:cNvPr id="10" name="Step text 2"/>
          <p:cNvSpPr txBox="1"/>
          <p:nvPr/>
        </p:nvSpPr>
        <p:spPr>
          <a:xfrm>
            <a:off x="1600200" y="2560320"/>
            <a:ext cx="5989320" cy="804672"/>
          </a:xfrm>
          <a:prstGeom prst="rect">
            <a:avLst/>
          </a:prstGeom>
          <a:noFill/>
          <a:ln/>
        </p:spPr>
        <p:txBody>
          <a:bodyPr wrap="square" lIns="0" tIns="0" rIns="0" bIns="0" rtlCol="0" anchor="ctr"/>
          <a:lstStyle/>
          <a:p>
            <a:pPr indent="0" marL="0">
              <a:buNone/>
            </a:pPr>
            <a:r>
              <a:rPr lang="en-US" sz="1800" b="1" dirty="0">
                <a:solidFill>
                  <a:schemeClr val="bg1"/>
                </a:solidFill>
              </a:rPr>
              <a:t>2. Blackout</a:t>
            </a:r>
            <a:pPr indent="0" marL="0">
              <a:buNone/>
            </a:pPr>
            <a:r>
              <a:rPr lang="en-US" sz="1300" b="1" dirty="0">
                <a:solidFill>
                  <a:schemeClr val="accent2"/>
                </a:solidFill>
              </a:rPr>
              <a:t>   Working memory</a:t>
            </a:r>
            <a:endParaRPr lang="en-US" sz="1800" dirty="0"/>
          </a:p>
          <a:p>
            <a:pPr indent="0" marL="0">
              <a:buNone/>
            </a:pPr>
            <a:r>
              <a:rPr lang="en-US" sz="1400" dirty="0">
                <a:solidFill>
                  <a:schemeClr val="bg2"/>
                </a:solidFill>
              </a:rPr>
              <a:t>At the exact moment the pro passed, the screen goes dark.</a:t>
            </a:r>
            <a:endParaRPr lang="en-US" sz="1800" dirty="0"/>
          </a:p>
        </p:txBody>
      </p:sp>
      <p:sp>
        <p:nvSpPr>
          <p:cNvPr id="11" name="Step card 3"/>
          <p:cNvSpPr/>
          <p:nvPr/>
        </p:nvSpPr>
        <p:spPr>
          <a:xfrm>
            <a:off x="548640" y="3611880"/>
            <a:ext cx="7223760" cy="987552"/>
          </a:xfrm>
          <a:prstGeom prst="roundRect">
            <a:avLst>
              <a:gd name="adj" fmla="val 11111"/>
            </a:avLst>
          </a:prstGeom>
          <a:solidFill>
            <a:schemeClr val="tx2"/>
          </a:solidFill>
          <a:ln w="12700">
            <a:solidFill>
              <a:schemeClr val="tx2"/>
            </a:solidFill>
            <a:prstDash val="solid"/>
          </a:ln>
        </p:spPr>
      </p:sp>
      <p:sp>
        <p:nvSpPr>
          <p:cNvPr id="12" name="Step circle 3"/>
          <p:cNvSpPr/>
          <p:nvPr/>
        </p:nvSpPr>
        <p:spPr>
          <a:xfrm>
            <a:off x="749808" y="3785616"/>
            <a:ext cx="640080" cy="640080"/>
          </a:xfrm>
          <a:prstGeom prst="ellipse">
            <a:avLst/>
          </a:prstGeom>
          <a:solidFill>
            <a:schemeClr val="tx1"/>
          </a:solidFill>
          <a:ln w="25400">
            <a:solidFill>
              <a:schemeClr val="accent1"/>
            </a:solidFill>
            <a:prstDash val="solid"/>
          </a:ln>
        </p:spPr>
      </p:sp>
      <p:pic>
        <p:nvPicPr>
          <p:cNvPr id="13" name="Step icon 3" descr="preencoded.png">    </p:cNvPr>
          <p:cNvPicPr>
            <a:picLocks noChangeAspect="1"/>
          </p:cNvPicPr>
          <p:nvPr/>
        </p:nvPicPr>
        <p:blipFill>
          <a:blip r:embed="rId3"/>
          <a:stretch>
            <a:fillRect/>
          </a:stretch>
        </p:blipFill>
        <p:spPr>
          <a:xfrm>
            <a:off x="905256" y="3941064"/>
            <a:ext cx="329184" cy="329184"/>
          </a:xfrm>
          <a:prstGeom prst="rect">
            <a:avLst/>
          </a:prstGeom>
        </p:spPr>
      </p:pic>
      <p:sp>
        <p:nvSpPr>
          <p:cNvPr id="14" name="Step text 3"/>
          <p:cNvSpPr txBox="1"/>
          <p:nvPr/>
        </p:nvSpPr>
        <p:spPr>
          <a:xfrm>
            <a:off x="1600200" y="3703320"/>
            <a:ext cx="5989320" cy="804672"/>
          </a:xfrm>
          <a:prstGeom prst="rect">
            <a:avLst/>
          </a:prstGeom>
          <a:noFill/>
          <a:ln/>
        </p:spPr>
        <p:txBody>
          <a:bodyPr wrap="square" lIns="0" tIns="0" rIns="0" bIns="0" rtlCol="0" anchor="ctr"/>
          <a:lstStyle/>
          <a:p>
            <a:pPr indent="0" marL="0">
              <a:buNone/>
            </a:pPr>
            <a:r>
              <a:rPr lang="en-US" sz="1800" b="1" dirty="0">
                <a:solidFill>
                  <a:schemeClr val="bg1"/>
                </a:solidFill>
              </a:rPr>
              <a:t>3. Pass</a:t>
            </a:r>
            <a:pPr indent="0" marL="0">
              <a:buNone/>
            </a:pPr>
            <a:r>
              <a:rPr lang="en-US" sz="1300" b="1" dirty="0">
                <a:solidFill>
                  <a:schemeClr val="accent2"/>
                </a:solidFill>
              </a:rPr>
              <a:t>   Decision under pressure</a:t>
            </a:r>
            <a:endParaRPr lang="en-US" sz="1800" dirty="0"/>
          </a:p>
          <a:p>
            <a:pPr indent="0" marL="0">
              <a:buNone/>
            </a:pPr>
            <a:r>
              <a:rPr lang="en-US" sz="1400" dirty="0">
                <a:solidFill>
                  <a:schemeClr val="bg2"/>
                </a:solidFill>
              </a:rPr>
              <a:t>Tap where to play it: to feet, into space, or lofted.</a:t>
            </a:r>
            <a:endParaRPr lang="en-US" sz="1800" dirty="0"/>
          </a:p>
        </p:txBody>
      </p:sp>
      <p:sp>
        <p:nvSpPr>
          <p:cNvPr id="15" name="Step card 4"/>
          <p:cNvSpPr/>
          <p:nvPr/>
        </p:nvSpPr>
        <p:spPr>
          <a:xfrm>
            <a:off x="548640" y="4754880"/>
            <a:ext cx="7223760" cy="987552"/>
          </a:xfrm>
          <a:prstGeom prst="roundRect">
            <a:avLst>
              <a:gd name="adj" fmla="val 11111"/>
            </a:avLst>
          </a:prstGeom>
          <a:solidFill>
            <a:schemeClr val="tx2"/>
          </a:solidFill>
          <a:ln w="12700">
            <a:solidFill>
              <a:schemeClr val="tx2"/>
            </a:solidFill>
            <a:prstDash val="solid"/>
          </a:ln>
        </p:spPr>
      </p:sp>
      <p:sp>
        <p:nvSpPr>
          <p:cNvPr id="16" name="Step circle 4"/>
          <p:cNvSpPr/>
          <p:nvPr/>
        </p:nvSpPr>
        <p:spPr>
          <a:xfrm>
            <a:off x="749808" y="4928616"/>
            <a:ext cx="640080" cy="640080"/>
          </a:xfrm>
          <a:prstGeom prst="ellipse">
            <a:avLst/>
          </a:prstGeom>
          <a:solidFill>
            <a:schemeClr val="tx1"/>
          </a:solidFill>
          <a:ln w="25400">
            <a:solidFill>
              <a:schemeClr val="accent1"/>
            </a:solidFill>
            <a:prstDash val="solid"/>
          </a:ln>
        </p:spPr>
      </p:sp>
      <p:pic>
        <p:nvPicPr>
          <p:cNvPr id="17" name="Step icon 4" descr="preencoded.png">    </p:cNvPr>
          <p:cNvPicPr>
            <a:picLocks noChangeAspect="1"/>
          </p:cNvPicPr>
          <p:nvPr/>
        </p:nvPicPr>
        <p:blipFill>
          <a:blip r:embed="rId4"/>
          <a:stretch>
            <a:fillRect/>
          </a:stretch>
        </p:blipFill>
        <p:spPr>
          <a:xfrm>
            <a:off x="905256" y="5084064"/>
            <a:ext cx="329184" cy="329184"/>
          </a:xfrm>
          <a:prstGeom prst="rect">
            <a:avLst/>
          </a:prstGeom>
        </p:spPr>
      </p:pic>
      <p:sp>
        <p:nvSpPr>
          <p:cNvPr id="18" name="Step text 4"/>
          <p:cNvSpPr txBox="1"/>
          <p:nvPr/>
        </p:nvSpPr>
        <p:spPr>
          <a:xfrm>
            <a:off x="1600200" y="4846320"/>
            <a:ext cx="5989320" cy="804672"/>
          </a:xfrm>
          <a:prstGeom prst="rect">
            <a:avLst/>
          </a:prstGeom>
          <a:noFill/>
          <a:ln/>
        </p:spPr>
        <p:txBody>
          <a:bodyPr wrap="square" lIns="0" tIns="0" rIns="0" bIns="0" rtlCol="0" anchor="ctr"/>
          <a:lstStyle/>
          <a:p>
            <a:pPr indent="0" marL="0">
              <a:buNone/>
            </a:pPr>
            <a:r>
              <a:rPr lang="en-US" sz="1800" b="1" dirty="0">
                <a:solidFill>
                  <a:schemeClr val="bg1"/>
                </a:solidFill>
              </a:rPr>
              <a:t>4. Reveal</a:t>
            </a:r>
            <a:pPr indent="0" marL="0">
              <a:buNone/>
            </a:pPr>
            <a:r>
              <a:rPr lang="en-US" sz="1300" b="1" dirty="0">
                <a:solidFill>
                  <a:schemeClr val="accent2"/>
                </a:solidFill>
              </a:rPr>
              <a:t>   Learning</a:t>
            </a:r>
            <a:endParaRPr lang="en-US" sz="1800" dirty="0"/>
          </a:p>
          <a:p>
            <a:pPr indent="0" marL="0">
              <a:buNone/>
            </a:pPr>
            <a:r>
              <a:rPr lang="en-US" sz="1400" dirty="0">
                <a:solidFill>
                  <a:schemeClr val="bg2"/>
                </a:solidFill>
              </a:rPr>
              <a:t>Your pass vs the pro's vs the best option, and why.</a:t>
            </a:r>
            <a:endParaRPr lang="en-US" sz="1800" dirty="0"/>
          </a:p>
        </p:txBody>
      </p:sp>
      <p:sp>
        <p:nvSpPr>
          <p:cNvPr id="19" name="Data line"/>
          <p:cNvSpPr txBox="1"/>
          <p:nvPr/>
        </p:nvSpPr>
        <p:spPr>
          <a:xfrm>
            <a:off x="548640" y="5897880"/>
            <a:ext cx="7863840" cy="365760"/>
          </a:xfrm>
          <a:prstGeom prst="rect">
            <a:avLst/>
          </a:prstGeom>
          <a:noFill/>
          <a:ln/>
        </p:spPr>
        <p:txBody>
          <a:bodyPr wrap="square" lIns="0" tIns="0" rIns="0" bIns="0" rtlCol="0" anchor="ctr"/>
          <a:lstStyle/>
          <a:p>
            <a:pPr indent="0" marL="0">
              <a:buNone/>
            </a:pPr>
            <a:r>
              <a:rPr lang="en-US" sz="1300" b="1" dirty="0">
                <a:solidFill>
                  <a:schemeClr val="bg1"/>
                </a:solidFill>
              </a:rPr>
              <a:t>Every round is a real Bundesliga moment: official DFL tracking data, 25 frames per second </a:t>
            </a:r>
            <a:pPr indent="0" marL="0">
              <a:buNone/>
            </a:pPr>
            <a:r>
              <a:rPr lang="en-US" sz="1300" u="sng" dirty="0">
                <a:solidFill>
                  <a:srgbClr val="22D3EE"/>
                </a:solidFill>
                <a:hlinkClick r:id="rId5" invalidUrl="" action="" tgtFrame="" tooltip="https://doi.org/10.1038/s41597-025-04505-y" history="1" highlightClick="0" endSnd="0">
                  <a:extLst>
                    <a:ext uri="{A12FA001-AC4F-418D-AE19-62706E023703}">
                      <ahyp:hlinkClr xmlns:ahyp="http://schemas.microsoft.com/office/drawing/2018/hyperlinkcolor" val="tx"/>
                    </a:ext>
                  </a:extLst>
                </a:hlinkClick>
              </a:rPr>
              <a:t>(Bassek et al. 2025)</a:t>
            </a:r>
            <a:endParaRPr lang="en-US" sz="1300" dirty="0"/>
          </a:p>
        </p:txBody>
      </p:sp>
      <p:pic>
        <p:nvPicPr>
          <p:cNvPr id="20" name="Phone screenshot" descr="/tmp/claude-0/-home-claude/1d9e7da0-d217-5fb5-8a7d-7dbb3f2728f7/scratchpad/deck/phone.png">    </p:cNvPr>
          <p:cNvPicPr>
            <a:picLocks noChangeAspect="1"/>
          </p:cNvPicPr>
          <p:nvPr/>
        </p:nvPicPr>
        <p:blipFill>
          <a:blip r:embed="rId6"/>
          <a:stretch>
            <a:fillRect/>
          </a:stretch>
        </p:blipFill>
        <p:spPr>
          <a:xfrm>
            <a:off x="8732520" y="1280160"/>
            <a:ext cx="2670048" cy="4846320"/>
          </a:xfrm>
          <a:prstGeom prst="rect">
            <a:avLst/>
          </a:prstGeom>
        </p:spPr>
      </p:pic>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More than another mind game</a:t>
            </a:r>
            <a:endParaRPr lang="en-US" sz="3400" dirty="0"/>
          </a:p>
        </p:txBody>
      </p:sp>
      <p:sp>
        <p:nvSpPr>
          <p:cNvPr id="3" name="Column head 1"/>
          <p:cNvSpPr txBox="1"/>
          <p:nvPr/>
        </p:nvSpPr>
        <p:spPr>
          <a:xfrm>
            <a:off x="685800" y="1325880"/>
            <a:ext cx="2971800" cy="548640"/>
          </a:xfrm>
          <a:prstGeom prst="rect">
            <a:avLst/>
          </a:prstGeom>
          <a:noFill/>
          <a:ln/>
        </p:spPr>
        <p:txBody>
          <a:bodyPr wrap="square" lIns="0" tIns="0" rIns="0" bIns="0" rtlCol="0" anchor="ctr"/>
          <a:lstStyle/>
          <a:p>
            <a:pPr indent="0" marL="0">
              <a:buNone/>
            </a:pPr>
            <a:r>
              <a:rPr lang="en-US" sz="1800" b="1" dirty="0">
                <a:solidFill>
                  <a:schemeClr val="bg2"/>
                </a:solidFill>
              </a:rPr>
              <a:t>Typical brain game</a:t>
            </a:r>
            <a:endParaRPr lang="en-US" sz="1800" dirty="0"/>
          </a:p>
        </p:txBody>
      </p:sp>
      <p:sp>
        <p:nvSpPr>
          <p:cNvPr id="4" name="Column head 2"/>
          <p:cNvSpPr txBox="1"/>
          <p:nvPr/>
        </p:nvSpPr>
        <p:spPr>
          <a:xfrm>
            <a:off x="4023360" y="1325880"/>
            <a:ext cx="3794760" cy="548640"/>
          </a:xfrm>
          <a:prstGeom prst="rect">
            <a:avLst/>
          </a:prstGeom>
          <a:noFill/>
          <a:ln/>
        </p:spPr>
        <p:txBody>
          <a:bodyPr wrap="square" lIns="0" tIns="0" rIns="0" bIns="0" rtlCol="0" anchor="ctr"/>
          <a:lstStyle/>
          <a:p>
            <a:pPr indent="0" marL="0">
              <a:buNone/>
            </a:pPr>
            <a:r>
              <a:rPr lang="en-US" sz="1800" b="1" dirty="0">
                <a:solidFill>
                  <a:schemeClr val="accent1"/>
                </a:solidFill>
              </a:rPr>
              <a:t>Scan &amp; Play</a:t>
            </a:r>
            <a:endParaRPr lang="en-US" sz="1800" dirty="0"/>
          </a:p>
        </p:txBody>
      </p:sp>
      <p:sp>
        <p:nvSpPr>
          <p:cNvPr id="5" name="Old cell 1"/>
          <p:cNvSpPr/>
          <p:nvPr/>
        </p:nvSpPr>
        <p:spPr>
          <a:xfrm>
            <a:off x="548640" y="1965960"/>
            <a:ext cx="3172968" cy="676656"/>
          </a:xfrm>
          <a:prstGeom prst="roundRect">
            <a:avLst>
              <a:gd name="adj" fmla="val 10811"/>
            </a:avLst>
          </a:prstGeom>
          <a:solidFill>
            <a:srgbClr val="111A2E"/>
          </a:solidFill>
          <a:ln w="12700">
            <a:solidFill>
              <a:srgbClr val="111A2E"/>
            </a:solidFill>
            <a:prstDash val="solid"/>
          </a:ln>
        </p:spPr>
      </p:sp>
      <p:sp>
        <p:nvSpPr>
          <p:cNvPr id="6" name="New cell 1"/>
          <p:cNvSpPr/>
          <p:nvPr/>
        </p:nvSpPr>
        <p:spPr>
          <a:xfrm>
            <a:off x="3886200" y="1965960"/>
            <a:ext cx="4069080" cy="676656"/>
          </a:xfrm>
          <a:prstGeom prst="roundRect">
            <a:avLst>
              <a:gd name="adj" fmla="val 10811"/>
            </a:avLst>
          </a:prstGeom>
          <a:solidFill>
            <a:schemeClr val="tx2"/>
          </a:solidFill>
          <a:ln w="12700">
            <a:solidFill>
              <a:schemeClr val="tx2"/>
            </a:solidFill>
            <a:prstDash val="solid"/>
          </a:ln>
        </p:spPr>
      </p:sp>
      <p:sp>
        <p:nvSpPr>
          <p:cNvPr id="7" name="Old text 1"/>
          <p:cNvSpPr txBox="1"/>
          <p:nvPr/>
        </p:nvSpPr>
        <p:spPr>
          <a:xfrm>
            <a:off x="685800" y="1965960"/>
            <a:ext cx="2898648" cy="676656"/>
          </a:xfrm>
          <a:prstGeom prst="rect">
            <a:avLst/>
          </a:prstGeom>
          <a:noFill/>
          <a:ln/>
        </p:spPr>
        <p:txBody>
          <a:bodyPr wrap="square" lIns="0" tIns="0" rIns="0" bIns="0" rtlCol="0" anchor="ctr"/>
          <a:lstStyle/>
          <a:p>
            <a:pPr indent="0" marL="0">
              <a:buNone/>
            </a:pPr>
            <a:r>
              <a:rPr lang="en-US" sz="1500" dirty="0">
                <a:solidFill>
                  <a:schemeClr val="bg2"/>
                </a:solidFill>
              </a:rPr>
              <a:t>Abstract shapes or numbers</a:t>
            </a:r>
            <a:endParaRPr lang="en-US" sz="1500" dirty="0"/>
          </a:p>
        </p:txBody>
      </p:sp>
      <p:sp>
        <p:nvSpPr>
          <p:cNvPr id="8" name="New text 1"/>
          <p:cNvSpPr txBox="1"/>
          <p:nvPr/>
        </p:nvSpPr>
        <p:spPr>
          <a:xfrm>
            <a:off x="4023360" y="1965960"/>
            <a:ext cx="3794760" cy="676656"/>
          </a:xfrm>
          <a:prstGeom prst="rect">
            <a:avLst/>
          </a:prstGeom>
          <a:noFill/>
          <a:ln/>
        </p:spPr>
        <p:txBody>
          <a:bodyPr wrap="square" lIns="0" tIns="0" rIns="0" bIns="0" rtlCol="0" anchor="ctr"/>
          <a:lstStyle/>
          <a:p>
            <a:pPr indent="0" marL="0">
              <a:buNone/>
            </a:pPr>
            <a:r>
              <a:rPr lang="en-US" sz="1500" b="1" dirty="0">
                <a:solidFill>
                  <a:schemeClr val="bg1"/>
                </a:solidFill>
              </a:rPr>
              <a:t>Real Bundesliga situations</a:t>
            </a:r>
            <a:endParaRPr lang="en-US" sz="1500" dirty="0"/>
          </a:p>
        </p:txBody>
      </p:sp>
      <p:sp>
        <p:nvSpPr>
          <p:cNvPr id="9" name="Old cell 2"/>
          <p:cNvSpPr/>
          <p:nvPr/>
        </p:nvSpPr>
        <p:spPr>
          <a:xfrm>
            <a:off x="548640" y="2697480"/>
            <a:ext cx="3172968" cy="676656"/>
          </a:xfrm>
          <a:prstGeom prst="roundRect">
            <a:avLst>
              <a:gd name="adj" fmla="val 10811"/>
            </a:avLst>
          </a:prstGeom>
          <a:solidFill>
            <a:srgbClr val="111A2E"/>
          </a:solidFill>
          <a:ln w="12700">
            <a:solidFill>
              <a:srgbClr val="111A2E"/>
            </a:solidFill>
            <a:prstDash val="solid"/>
          </a:ln>
        </p:spPr>
      </p:sp>
      <p:sp>
        <p:nvSpPr>
          <p:cNvPr id="10" name="New cell 2"/>
          <p:cNvSpPr/>
          <p:nvPr/>
        </p:nvSpPr>
        <p:spPr>
          <a:xfrm>
            <a:off x="3886200" y="2697480"/>
            <a:ext cx="4069080" cy="676656"/>
          </a:xfrm>
          <a:prstGeom prst="roundRect">
            <a:avLst>
              <a:gd name="adj" fmla="val 10811"/>
            </a:avLst>
          </a:prstGeom>
          <a:solidFill>
            <a:schemeClr val="tx2"/>
          </a:solidFill>
          <a:ln w="12700">
            <a:solidFill>
              <a:schemeClr val="tx2"/>
            </a:solidFill>
            <a:prstDash val="solid"/>
          </a:ln>
        </p:spPr>
      </p:sp>
      <p:sp>
        <p:nvSpPr>
          <p:cNvPr id="11" name="Old text 2"/>
          <p:cNvSpPr txBox="1"/>
          <p:nvPr/>
        </p:nvSpPr>
        <p:spPr>
          <a:xfrm>
            <a:off x="685800" y="2697480"/>
            <a:ext cx="2898648" cy="676656"/>
          </a:xfrm>
          <a:prstGeom prst="rect">
            <a:avLst/>
          </a:prstGeom>
          <a:noFill/>
          <a:ln/>
        </p:spPr>
        <p:txBody>
          <a:bodyPr wrap="square" lIns="0" tIns="0" rIns="0" bIns="0" rtlCol="0" anchor="ctr"/>
          <a:lstStyle/>
          <a:p>
            <a:pPr indent="0" marL="0">
              <a:buNone/>
            </a:pPr>
            <a:r>
              <a:rPr lang="en-US" sz="1500" dirty="0">
                <a:solidFill>
                  <a:schemeClr val="bg2"/>
                </a:solidFill>
              </a:rPr>
              <a:t>Trains one skill in isolation</a:t>
            </a:r>
            <a:endParaRPr lang="en-US" sz="1500" dirty="0"/>
          </a:p>
        </p:txBody>
      </p:sp>
      <p:sp>
        <p:nvSpPr>
          <p:cNvPr id="12" name="New text 2"/>
          <p:cNvSpPr txBox="1"/>
          <p:nvPr/>
        </p:nvSpPr>
        <p:spPr>
          <a:xfrm>
            <a:off x="4023360" y="2697480"/>
            <a:ext cx="3794760" cy="676656"/>
          </a:xfrm>
          <a:prstGeom prst="rect">
            <a:avLst/>
          </a:prstGeom>
          <a:noFill/>
          <a:ln/>
        </p:spPr>
        <p:txBody>
          <a:bodyPr wrap="square" lIns="0" tIns="0" rIns="0" bIns="0" rtlCol="0" anchor="ctr"/>
          <a:lstStyle/>
          <a:p>
            <a:pPr indent="0" marL="0">
              <a:buNone/>
            </a:pPr>
            <a:r>
              <a:rPr lang="en-US" sz="1500" b="1" dirty="0">
                <a:solidFill>
                  <a:schemeClr val="bg1"/>
                </a:solidFill>
              </a:rPr>
              <a:t>Scanning, memory, reading and deciding in one action</a:t>
            </a:r>
            <a:endParaRPr lang="en-US" sz="1500" dirty="0"/>
          </a:p>
        </p:txBody>
      </p:sp>
      <p:sp>
        <p:nvSpPr>
          <p:cNvPr id="13" name="Old cell 3"/>
          <p:cNvSpPr/>
          <p:nvPr/>
        </p:nvSpPr>
        <p:spPr>
          <a:xfrm>
            <a:off x="548640" y="3429000"/>
            <a:ext cx="3172968" cy="676656"/>
          </a:xfrm>
          <a:prstGeom prst="roundRect">
            <a:avLst>
              <a:gd name="adj" fmla="val 10811"/>
            </a:avLst>
          </a:prstGeom>
          <a:solidFill>
            <a:srgbClr val="111A2E"/>
          </a:solidFill>
          <a:ln w="12700">
            <a:solidFill>
              <a:srgbClr val="111A2E"/>
            </a:solidFill>
            <a:prstDash val="solid"/>
          </a:ln>
        </p:spPr>
      </p:sp>
      <p:sp>
        <p:nvSpPr>
          <p:cNvPr id="14" name="New cell 3"/>
          <p:cNvSpPr/>
          <p:nvPr/>
        </p:nvSpPr>
        <p:spPr>
          <a:xfrm>
            <a:off x="3886200" y="3429000"/>
            <a:ext cx="4069080" cy="676656"/>
          </a:xfrm>
          <a:prstGeom prst="roundRect">
            <a:avLst>
              <a:gd name="adj" fmla="val 10811"/>
            </a:avLst>
          </a:prstGeom>
          <a:solidFill>
            <a:schemeClr val="tx2"/>
          </a:solidFill>
          <a:ln w="12700">
            <a:solidFill>
              <a:schemeClr val="tx2"/>
            </a:solidFill>
            <a:prstDash val="solid"/>
          </a:ln>
        </p:spPr>
      </p:sp>
      <p:sp>
        <p:nvSpPr>
          <p:cNvPr id="15" name="Old text 3"/>
          <p:cNvSpPr txBox="1"/>
          <p:nvPr/>
        </p:nvSpPr>
        <p:spPr>
          <a:xfrm>
            <a:off x="685800" y="3429000"/>
            <a:ext cx="2898648" cy="676656"/>
          </a:xfrm>
          <a:prstGeom prst="rect">
            <a:avLst/>
          </a:prstGeom>
          <a:noFill/>
          <a:ln/>
        </p:spPr>
        <p:txBody>
          <a:bodyPr wrap="square" lIns="0" tIns="0" rIns="0" bIns="0" rtlCol="0" anchor="ctr"/>
          <a:lstStyle/>
          <a:p>
            <a:pPr indent="0" marL="0">
              <a:buNone/>
            </a:pPr>
            <a:r>
              <a:rPr lang="en-US" sz="1500" dirty="0">
                <a:solidFill>
                  <a:schemeClr val="bg2"/>
                </a:solidFill>
              </a:rPr>
              <a:t>Tap fast or remember a list</a:t>
            </a:r>
            <a:endParaRPr lang="en-US" sz="1500" dirty="0"/>
          </a:p>
        </p:txBody>
      </p:sp>
      <p:sp>
        <p:nvSpPr>
          <p:cNvPr id="16" name="New text 3"/>
          <p:cNvSpPr txBox="1"/>
          <p:nvPr/>
        </p:nvSpPr>
        <p:spPr>
          <a:xfrm>
            <a:off x="4023360" y="3429000"/>
            <a:ext cx="3794760" cy="676656"/>
          </a:xfrm>
          <a:prstGeom prst="rect">
            <a:avLst/>
          </a:prstGeom>
          <a:noFill/>
          <a:ln/>
        </p:spPr>
        <p:txBody>
          <a:bodyPr wrap="square" lIns="0" tIns="0" rIns="0" bIns="0" rtlCol="0" anchor="ctr"/>
          <a:lstStyle/>
          <a:p>
            <a:pPr indent="0" marL="0">
              <a:buNone/>
            </a:pPr>
            <a:r>
              <a:rPr lang="en-US" sz="1500" b="1" dirty="0">
                <a:solidFill>
                  <a:schemeClr val="bg1"/>
                </a:solidFill>
              </a:rPr>
              <a:t>A real football decision: where to pass</a:t>
            </a:r>
            <a:endParaRPr lang="en-US" sz="1500" dirty="0"/>
          </a:p>
        </p:txBody>
      </p:sp>
      <p:sp>
        <p:nvSpPr>
          <p:cNvPr id="17" name="Old cell 4"/>
          <p:cNvSpPr/>
          <p:nvPr/>
        </p:nvSpPr>
        <p:spPr>
          <a:xfrm>
            <a:off x="548640" y="4160520"/>
            <a:ext cx="3172968" cy="676656"/>
          </a:xfrm>
          <a:prstGeom prst="roundRect">
            <a:avLst>
              <a:gd name="adj" fmla="val 10811"/>
            </a:avLst>
          </a:prstGeom>
          <a:solidFill>
            <a:srgbClr val="111A2E"/>
          </a:solidFill>
          <a:ln w="12700">
            <a:solidFill>
              <a:srgbClr val="111A2E"/>
            </a:solidFill>
            <a:prstDash val="solid"/>
          </a:ln>
        </p:spPr>
      </p:sp>
      <p:sp>
        <p:nvSpPr>
          <p:cNvPr id="18" name="New cell 4"/>
          <p:cNvSpPr/>
          <p:nvPr/>
        </p:nvSpPr>
        <p:spPr>
          <a:xfrm>
            <a:off x="3886200" y="4160520"/>
            <a:ext cx="4069080" cy="676656"/>
          </a:xfrm>
          <a:prstGeom prst="roundRect">
            <a:avLst>
              <a:gd name="adj" fmla="val 10811"/>
            </a:avLst>
          </a:prstGeom>
          <a:solidFill>
            <a:schemeClr val="tx2"/>
          </a:solidFill>
          <a:ln w="12700">
            <a:solidFill>
              <a:schemeClr val="tx2"/>
            </a:solidFill>
            <a:prstDash val="solid"/>
          </a:ln>
        </p:spPr>
      </p:sp>
      <p:sp>
        <p:nvSpPr>
          <p:cNvPr id="19" name="Old text 4"/>
          <p:cNvSpPr txBox="1"/>
          <p:nvPr/>
        </p:nvSpPr>
        <p:spPr>
          <a:xfrm>
            <a:off x="685800" y="4160520"/>
            <a:ext cx="2898648" cy="676656"/>
          </a:xfrm>
          <a:prstGeom prst="rect">
            <a:avLst/>
          </a:prstGeom>
          <a:noFill/>
          <a:ln/>
        </p:spPr>
        <p:txBody>
          <a:bodyPr wrap="square" lIns="0" tIns="0" rIns="0" bIns="0" rtlCol="0" anchor="ctr"/>
          <a:lstStyle/>
          <a:p>
            <a:pPr indent="0" marL="0">
              <a:buNone/>
            </a:pPr>
            <a:r>
              <a:rPr lang="en-US" sz="1500" dirty="0">
                <a:solidFill>
                  <a:schemeClr val="bg2"/>
                </a:solidFill>
              </a:rPr>
              <a:t>A score only</a:t>
            </a:r>
            <a:endParaRPr lang="en-US" sz="1500" dirty="0"/>
          </a:p>
        </p:txBody>
      </p:sp>
      <p:sp>
        <p:nvSpPr>
          <p:cNvPr id="20" name="New text 4"/>
          <p:cNvSpPr txBox="1"/>
          <p:nvPr/>
        </p:nvSpPr>
        <p:spPr>
          <a:xfrm>
            <a:off x="4023360" y="4160520"/>
            <a:ext cx="3794760" cy="676656"/>
          </a:xfrm>
          <a:prstGeom prst="rect">
            <a:avLst/>
          </a:prstGeom>
          <a:noFill/>
          <a:ln/>
        </p:spPr>
        <p:txBody>
          <a:bodyPr wrap="square" lIns="0" tIns="0" rIns="0" bIns="0" rtlCol="0" anchor="ctr"/>
          <a:lstStyle/>
          <a:p>
            <a:pPr indent="0" marL="0">
              <a:buNone/>
            </a:pPr>
            <a:r>
              <a:rPr lang="en-US" sz="1500" b="1" dirty="0">
                <a:solidFill>
                  <a:schemeClr val="bg1"/>
                </a:solidFill>
              </a:rPr>
              <a:t>Compared with the pro on exactly the same frame</a:t>
            </a:r>
            <a:endParaRPr lang="en-US" sz="1500" dirty="0"/>
          </a:p>
        </p:txBody>
      </p:sp>
      <p:sp>
        <p:nvSpPr>
          <p:cNvPr id="21" name="Old cell 5"/>
          <p:cNvSpPr/>
          <p:nvPr/>
        </p:nvSpPr>
        <p:spPr>
          <a:xfrm>
            <a:off x="548640" y="4892040"/>
            <a:ext cx="3172968" cy="676656"/>
          </a:xfrm>
          <a:prstGeom prst="roundRect">
            <a:avLst>
              <a:gd name="adj" fmla="val 10811"/>
            </a:avLst>
          </a:prstGeom>
          <a:solidFill>
            <a:srgbClr val="111A2E"/>
          </a:solidFill>
          <a:ln w="12700">
            <a:solidFill>
              <a:srgbClr val="111A2E"/>
            </a:solidFill>
            <a:prstDash val="solid"/>
          </a:ln>
        </p:spPr>
      </p:sp>
      <p:sp>
        <p:nvSpPr>
          <p:cNvPr id="22" name="New cell 5"/>
          <p:cNvSpPr/>
          <p:nvPr/>
        </p:nvSpPr>
        <p:spPr>
          <a:xfrm>
            <a:off x="3886200" y="4892040"/>
            <a:ext cx="4069080" cy="676656"/>
          </a:xfrm>
          <a:prstGeom prst="roundRect">
            <a:avLst>
              <a:gd name="adj" fmla="val 10811"/>
            </a:avLst>
          </a:prstGeom>
          <a:solidFill>
            <a:schemeClr val="tx2"/>
          </a:solidFill>
          <a:ln w="12700">
            <a:solidFill>
              <a:schemeClr val="tx2"/>
            </a:solidFill>
            <a:prstDash val="solid"/>
          </a:ln>
        </p:spPr>
      </p:sp>
      <p:sp>
        <p:nvSpPr>
          <p:cNvPr id="23" name="Old text 5"/>
          <p:cNvSpPr txBox="1"/>
          <p:nvPr/>
        </p:nvSpPr>
        <p:spPr>
          <a:xfrm>
            <a:off x="685800" y="4892040"/>
            <a:ext cx="2898648" cy="676656"/>
          </a:xfrm>
          <a:prstGeom prst="rect">
            <a:avLst/>
          </a:prstGeom>
          <a:noFill/>
          <a:ln/>
        </p:spPr>
        <p:txBody>
          <a:bodyPr wrap="square" lIns="0" tIns="0" rIns="0" bIns="0" rtlCol="0" anchor="ctr"/>
          <a:lstStyle/>
          <a:p>
            <a:pPr indent="0" marL="0">
              <a:buNone/>
            </a:pPr>
            <a:r>
              <a:rPr lang="en-US" sz="1500" dirty="0">
                <a:solidFill>
                  <a:schemeClr val="bg2"/>
                </a:solidFill>
              </a:rPr>
              <a:t>Little evidence it reaches the pitch</a:t>
            </a:r>
            <a:endParaRPr lang="en-US" sz="1500" dirty="0"/>
          </a:p>
        </p:txBody>
      </p:sp>
      <p:sp>
        <p:nvSpPr>
          <p:cNvPr id="24" name="New text 5"/>
          <p:cNvSpPr txBox="1"/>
          <p:nvPr/>
        </p:nvSpPr>
        <p:spPr>
          <a:xfrm>
            <a:off x="4023360" y="4892040"/>
            <a:ext cx="3794760" cy="676656"/>
          </a:xfrm>
          <a:prstGeom prst="rect">
            <a:avLst/>
          </a:prstGeom>
          <a:noFill/>
          <a:ln/>
        </p:spPr>
        <p:txBody>
          <a:bodyPr wrap="square" lIns="0" tIns="0" rIns="0" bIns="0" rtlCol="0" anchor="ctr"/>
          <a:lstStyle/>
          <a:p>
            <a:pPr indent="0" marL="0">
              <a:buNone/>
            </a:pPr>
            <a:r>
              <a:rPr lang="en-US" sz="1500" b="1" dirty="0">
                <a:solidFill>
                  <a:schemeClr val="bg1"/>
                </a:solidFill>
              </a:rPr>
              <a:t>Built the way transfer research recommends</a:t>
            </a:r>
            <a:endParaRPr lang="en-US" sz="1500" dirty="0"/>
          </a:p>
        </p:txBody>
      </p:sp>
      <p:sp>
        <p:nvSpPr>
          <p:cNvPr id="25" name="Principle card"/>
          <p:cNvSpPr/>
          <p:nvPr/>
        </p:nvSpPr>
        <p:spPr>
          <a:xfrm>
            <a:off x="8321040" y="1325880"/>
            <a:ext cx="3291840" cy="4279392"/>
          </a:xfrm>
          <a:prstGeom prst="roundRect">
            <a:avLst>
              <a:gd name="adj" fmla="val 3333"/>
            </a:avLst>
          </a:prstGeom>
          <a:solidFill>
            <a:schemeClr val="tx2"/>
          </a:solidFill>
          <a:ln w="12700">
            <a:solidFill>
              <a:schemeClr val="tx2"/>
            </a:solidFill>
            <a:prstDash val="solid"/>
          </a:ln>
        </p:spPr>
      </p:sp>
      <p:pic>
        <p:nvPicPr>
          <p:cNvPr id="26" name="Principle icon" descr="preencoded.png">    </p:cNvPr>
          <p:cNvPicPr>
            <a:picLocks noChangeAspect="1"/>
          </p:cNvPicPr>
          <p:nvPr/>
        </p:nvPicPr>
        <p:blipFill>
          <a:blip r:embed="rId1"/>
          <a:stretch>
            <a:fillRect/>
          </a:stretch>
        </p:blipFill>
        <p:spPr>
          <a:xfrm>
            <a:off x="8549640" y="1554480"/>
            <a:ext cx="457200" cy="457200"/>
          </a:xfrm>
          <a:prstGeom prst="rect">
            <a:avLst/>
          </a:prstGeom>
        </p:spPr>
      </p:pic>
      <p:sp>
        <p:nvSpPr>
          <p:cNvPr id="27" name="Principle text"/>
          <p:cNvSpPr txBox="1"/>
          <p:nvPr/>
        </p:nvSpPr>
        <p:spPr>
          <a:xfrm>
            <a:off x="8549640" y="2148840"/>
            <a:ext cx="2834640" cy="2606040"/>
          </a:xfrm>
          <a:prstGeom prst="rect">
            <a:avLst/>
          </a:prstGeom>
          <a:noFill/>
          <a:ln/>
        </p:spPr>
        <p:txBody>
          <a:bodyPr wrap="square" lIns="0" tIns="0" rIns="0" bIns="0" rtlCol="0" anchor="t"/>
          <a:lstStyle/>
          <a:p>
            <a:pPr indent="0" marL="0">
              <a:buNone/>
            </a:pPr>
            <a:r>
              <a:rPr lang="en-US" sz="1700" b="1" dirty="0">
                <a:solidFill>
                  <a:schemeClr val="accent1"/>
                </a:solidFill>
              </a:rPr>
              <a:t>Representative design</a:t>
            </a:r>
            <a:endParaRPr lang="en-US" sz="1700" dirty="0"/>
          </a:p>
          <a:p>
            <a:pPr indent="0" marL="0">
              <a:spcBef>
                <a:spcPts val="600"/>
              </a:spcBef>
              <a:buNone/>
            </a:pPr>
            <a:r>
              <a:rPr lang="en-US" sz="1400" dirty="0">
                <a:solidFill>
                  <a:schemeClr val="bg1"/>
                </a:solidFill>
              </a:rPr>
              <a:t>Training should look like the real task: realistic scenes, real time pressure and a sport-specific response.</a:t>
            </a:r>
            <a:endParaRPr lang="en-US" sz="1700" dirty="0"/>
          </a:p>
          <a:p>
            <a:pPr indent="0" marL="0">
              <a:spcBef>
                <a:spcPts val="800"/>
              </a:spcBef>
              <a:buNone/>
            </a:pPr>
            <a:r>
              <a:rPr lang="en-US" sz="1400" dirty="0">
                <a:solidFill>
                  <a:schemeClr val="bg2"/>
                </a:solidFill>
              </a:rPr>
              <a:t>That's why we use real tracking data and ask for a pass, not a reaction.</a:t>
            </a:r>
            <a:endParaRPr lang="en-US" sz="1700" dirty="0"/>
          </a:p>
        </p:txBody>
      </p:sp>
      <p:sp>
        <p:nvSpPr>
          <p:cNvPr id="28" name="Principle sources"/>
          <p:cNvSpPr txBox="1"/>
          <p:nvPr/>
        </p:nvSpPr>
        <p:spPr>
          <a:xfrm>
            <a:off x="8549640" y="4983480"/>
            <a:ext cx="2834640" cy="365760"/>
          </a:xfrm>
          <a:prstGeom prst="rect">
            <a:avLst/>
          </a:prstGeom>
          <a:noFill/>
          <a:ln/>
        </p:spPr>
        <p:txBody>
          <a:bodyPr wrap="square" lIns="0" tIns="0" rIns="0" bIns="0" rtlCol="0" anchor="ctr"/>
          <a:lstStyle/>
          <a:p>
            <a:pPr indent="0" marL="0">
              <a:buNone/>
            </a:pPr>
            <a:r>
              <a:rPr lang="en-US" sz="1100" u="sng" dirty="0">
                <a:solidFill>
                  <a:srgbClr val="22D3EE"/>
                </a:solidFill>
                <a:hlinkClick r:id="rId2" invalidUrl="" action="" tgtFrame="" tooltip="https://doi.org/10.1080/17461391.2014.957727" history="1" highlightClick="0" endSnd="0">
                  <a:extLst>
                    <a:ext uri="{A12FA001-AC4F-418D-AE19-62706E023703}">
                      <ahyp:hlinkClr xmlns:ahyp="http://schemas.microsoft.com/office/drawing/2018/hyperlinkcolor" val="tx"/>
                    </a:ext>
                  </a:extLst>
                </a:hlinkClick>
              </a:rPr>
              <a:t>Broadbent et al. 2015</a:t>
            </a:r>
            <a:pPr indent="0" marL="0">
              <a:buNone/>
            </a:pPr>
            <a:r>
              <a:rPr lang="en-US" sz="1100" dirty="0">
                <a:solidFill>
                  <a:schemeClr val="bg2"/>
                </a:solidFill>
              </a:rPr>
              <a:t> · </a:t>
            </a:r>
            <a:pPr indent="0" marL="0">
              <a:buNone/>
            </a:pPr>
            <a:r>
              <a:rPr lang="en-US" sz="1100" u="sng" dirty="0">
                <a:solidFill>
                  <a:srgbClr val="22D3EE"/>
                </a:solidFill>
                <a:hlinkClick r:id="rId3" invalidUrl="" action="" tgtFrame="" tooltip="https://doi.org/10.3390/bs14100919" history="1" highlightClick="0" endSnd="0">
                  <a:extLst>
                    <a:ext uri="{A12FA001-AC4F-418D-AE19-62706E023703}">
                      <ahyp:hlinkClr xmlns:ahyp="http://schemas.microsoft.com/office/drawing/2018/hyperlinkcolor" val="tx"/>
                    </a:ext>
                  </a:extLst>
                </a:hlinkClick>
              </a:rPr>
              <a:t>Zhu et al. 2024</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The feedback is the training</a:t>
            </a:r>
            <a:endParaRPr lang="en-US" sz="3400" dirty="0"/>
          </a:p>
        </p:txBody>
      </p:sp>
      <p:pic>
        <p:nvPicPr>
          <p:cNvPr id="3" name="Feedback screenshot" descr="/tmp/claude-0/-home-claude/1d9e7da0-d217-5fb5-8a7d-7dbb3f2728f7/scratchpad/deck/desktop.png">    </p:cNvPr>
          <p:cNvPicPr>
            <a:picLocks noChangeAspect="1"/>
          </p:cNvPicPr>
          <p:nvPr/>
        </p:nvPicPr>
        <p:blipFill>
          <a:blip r:embed="rId1"/>
          <a:stretch>
            <a:fillRect/>
          </a:stretch>
        </p:blipFill>
        <p:spPr>
          <a:xfrm>
            <a:off x="548640" y="1280160"/>
            <a:ext cx="6858000" cy="4736592"/>
          </a:xfrm>
          <a:prstGeom prst="rect">
            <a:avLst/>
          </a:prstGeom>
        </p:spPr>
      </p:pic>
      <p:sp>
        <p:nvSpPr>
          <p:cNvPr id="4" name="Feedback card 1"/>
          <p:cNvSpPr/>
          <p:nvPr/>
        </p:nvSpPr>
        <p:spPr>
          <a:xfrm>
            <a:off x="7726680" y="1280160"/>
            <a:ext cx="3886200" cy="822960"/>
          </a:xfrm>
          <a:prstGeom prst="roundRect">
            <a:avLst>
              <a:gd name="adj" fmla="val 13333"/>
            </a:avLst>
          </a:prstGeom>
          <a:solidFill>
            <a:schemeClr val="tx2"/>
          </a:solidFill>
          <a:ln w="12700">
            <a:solidFill>
              <a:schemeClr val="tx2"/>
            </a:solidFill>
            <a:prstDash val="solid"/>
          </a:ln>
        </p:spPr>
      </p:sp>
      <p:sp>
        <p:nvSpPr>
          <p:cNvPr id="5" name="Feedback text 1"/>
          <p:cNvSpPr txBox="1"/>
          <p:nvPr/>
        </p:nvSpPr>
        <p:spPr>
          <a:xfrm>
            <a:off x="7909560" y="1344168"/>
            <a:ext cx="3566160" cy="694944"/>
          </a:xfrm>
          <a:prstGeom prst="rect">
            <a:avLst/>
          </a:prstGeom>
          <a:noFill/>
          <a:ln/>
        </p:spPr>
        <p:txBody>
          <a:bodyPr wrap="square" lIns="0" tIns="0" rIns="0" bIns="0" rtlCol="0" anchor="ctr"/>
          <a:lstStyle/>
          <a:p>
            <a:pPr indent="0" marL="0">
              <a:buNone/>
            </a:pPr>
            <a:r>
              <a:rPr lang="en-US" sz="1500" b="1" dirty="0">
                <a:solidFill>
                  <a:schemeClr val="accent1"/>
                </a:solidFill>
              </a:rPr>
              <a:t>Three passes, one pitch</a:t>
            </a:r>
            <a:endParaRPr lang="en-US" sz="1500" dirty="0"/>
          </a:p>
          <a:p>
            <a:pPr indent="0" marL="0">
              <a:buNone/>
            </a:pPr>
            <a:r>
              <a:rPr lang="en-US" sz="1400" dirty="0">
                <a:solidFill>
                  <a:schemeClr val="bg1"/>
                </a:solidFill>
              </a:rPr>
              <a:t>Yours, the pro's and the best, on the real positions.</a:t>
            </a:r>
            <a:endParaRPr lang="en-US" sz="1500" dirty="0"/>
          </a:p>
        </p:txBody>
      </p:sp>
      <p:sp>
        <p:nvSpPr>
          <p:cNvPr id="6" name="Feedback card 2"/>
          <p:cNvSpPr/>
          <p:nvPr/>
        </p:nvSpPr>
        <p:spPr>
          <a:xfrm>
            <a:off x="7726680" y="2212848"/>
            <a:ext cx="3886200" cy="822960"/>
          </a:xfrm>
          <a:prstGeom prst="roundRect">
            <a:avLst>
              <a:gd name="adj" fmla="val 13333"/>
            </a:avLst>
          </a:prstGeom>
          <a:solidFill>
            <a:schemeClr val="tx2"/>
          </a:solidFill>
          <a:ln w="12700">
            <a:solidFill>
              <a:schemeClr val="tx2"/>
            </a:solidFill>
            <a:prstDash val="solid"/>
          </a:ln>
        </p:spPr>
      </p:sp>
      <p:sp>
        <p:nvSpPr>
          <p:cNvPr id="7" name="Feedback text 2"/>
          <p:cNvSpPr txBox="1"/>
          <p:nvPr/>
        </p:nvSpPr>
        <p:spPr>
          <a:xfrm>
            <a:off x="7909560" y="2276856"/>
            <a:ext cx="3566160" cy="694944"/>
          </a:xfrm>
          <a:prstGeom prst="rect">
            <a:avLst/>
          </a:prstGeom>
          <a:noFill/>
          <a:ln/>
        </p:spPr>
        <p:txBody>
          <a:bodyPr wrap="square" lIns="0" tIns="0" rIns="0" bIns="0" rtlCol="0" anchor="ctr"/>
          <a:lstStyle/>
          <a:p>
            <a:pPr indent="0" marL="0">
              <a:buNone/>
            </a:pPr>
            <a:r>
              <a:rPr lang="en-US" sz="1500" b="1" dirty="0">
                <a:solidFill>
                  <a:schemeClr val="accent1"/>
                </a:solidFill>
              </a:rPr>
              <a:t>The why</a:t>
            </a:r>
            <a:endParaRPr lang="en-US" sz="1500" dirty="0"/>
          </a:p>
          <a:p>
            <a:pPr indent="0" marL="0">
              <a:buNone/>
            </a:pPr>
            <a:r>
              <a:rPr lang="en-US" sz="1400" dirty="0">
                <a:solidFill>
                  <a:schemeClr val="bg1"/>
                </a:solidFill>
              </a:rPr>
              <a:t>Danger gained, chance to arrive, open lanes, offside, risk.</a:t>
            </a:r>
            <a:endParaRPr lang="en-US" sz="1500" dirty="0"/>
          </a:p>
        </p:txBody>
      </p:sp>
      <p:sp>
        <p:nvSpPr>
          <p:cNvPr id="8" name="Feedback card 3"/>
          <p:cNvSpPr/>
          <p:nvPr/>
        </p:nvSpPr>
        <p:spPr>
          <a:xfrm>
            <a:off x="7726680" y="3145536"/>
            <a:ext cx="3886200" cy="822960"/>
          </a:xfrm>
          <a:prstGeom prst="roundRect">
            <a:avLst>
              <a:gd name="adj" fmla="val 13333"/>
            </a:avLst>
          </a:prstGeom>
          <a:solidFill>
            <a:schemeClr val="tx2"/>
          </a:solidFill>
          <a:ln w="12700">
            <a:solidFill>
              <a:schemeClr val="tx2"/>
            </a:solidFill>
            <a:prstDash val="solid"/>
          </a:ln>
        </p:spPr>
      </p:sp>
      <p:sp>
        <p:nvSpPr>
          <p:cNvPr id="9" name="Feedback text 3"/>
          <p:cNvSpPr txBox="1"/>
          <p:nvPr/>
        </p:nvSpPr>
        <p:spPr>
          <a:xfrm>
            <a:off x="7909560" y="3209544"/>
            <a:ext cx="3566160" cy="694944"/>
          </a:xfrm>
          <a:prstGeom prst="rect">
            <a:avLst/>
          </a:prstGeom>
          <a:noFill/>
          <a:ln/>
        </p:spPr>
        <p:txBody>
          <a:bodyPr wrap="square" lIns="0" tIns="0" rIns="0" bIns="0" rtlCol="0" anchor="ctr"/>
          <a:lstStyle/>
          <a:p>
            <a:pPr indent="0" marL="0">
              <a:buNone/>
            </a:pPr>
            <a:r>
              <a:rPr lang="en-US" sz="1500" b="1" dirty="0">
                <a:solidFill>
                  <a:schemeClr val="accent1"/>
                </a:solidFill>
              </a:rPr>
              <a:t>Your scan</a:t>
            </a:r>
            <a:endParaRPr lang="en-US" sz="1500" dirty="0"/>
          </a:p>
          <a:p>
            <a:pPr indent="0" marL="0">
              <a:buNone/>
            </a:pPr>
            <a:r>
              <a:rPr lang="en-US" sz="1400" dirty="0">
                <a:solidFill>
                  <a:schemeClr val="bg1"/>
                </a:solidFill>
              </a:rPr>
              <a:t>When you looked and what you missed: "you looked too early".</a:t>
            </a:r>
            <a:endParaRPr lang="en-US" sz="1500" dirty="0"/>
          </a:p>
        </p:txBody>
      </p:sp>
      <p:sp>
        <p:nvSpPr>
          <p:cNvPr id="10" name="Stat 1"/>
          <p:cNvSpPr txBox="1"/>
          <p:nvPr/>
        </p:nvSpPr>
        <p:spPr>
          <a:xfrm>
            <a:off x="7726680" y="4160520"/>
            <a:ext cx="1874520" cy="86868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991</a:t>
            </a:r>
            <a:endParaRPr lang="en-US" sz="2400" dirty="0"/>
          </a:p>
          <a:p>
            <a:pPr indent="0" marL="0">
              <a:buNone/>
            </a:pPr>
            <a:r>
              <a:rPr lang="en-US" sz="1100" dirty="0">
                <a:solidFill>
                  <a:schemeClr val="bg2"/>
                </a:solidFill>
              </a:rPr>
              <a:t>real passes calibrate the pass model</a:t>
            </a:r>
            <a:endParaRPr lang="en-US" sz="2400" dirty="0"/>
          </a:p>
        </p:txBody>
      </p:sp>
      <p:sp>
        <p:nvSpPr>
          <p:cNvPr id="11" name="Stat 2"/>
          <p:cNvSpPr txBox="1"/>
          <p:nvPr/>
        </p:nvSpPr>
        <p:spPr>
          <a:xfrm>
            <a:off x="9715500" y="4160520"/>
            <a:ext cx="1874520" cy="86868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72</a:t>
            </a:r>
            <a:endParaRPr lang="en-US" sz="2400" dirty="0"/>
          </a:p>
          <a:p>
            <a:pPr indent="0" marL="0">
              <a:buNone/>
            </a:pPr>
            <a:r>
              <a:rPr lang="en-US" sz="1100" dirty="0">
                <a:solidFill>
                  <a:schemeClr val="bg2"/>
                </a:solidFill>
              </a:rPr>
              <a:t>real Bundesliga moments</a:t>
            </a:r>
            <a:endParaRPr lang="en-US" sz="2400" dirty="0"/>
          </a:p>
        </p:txBody>
      </p:sp>
      <p:sp>
        <p:nvSpPr>
          <p:cNvPr id="12" name="Stat 3"/>
          <p:cNvSpPr txBox="1"/>
          <p:nvPr/>
        </p:nvSpPr>
        <p:spPr>
          <a:xfrm>
            <a:off x="7726680" y="5120640"/>
            <a:ext cx="1874520" cy="86868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1,500+</a:t>
            </a:r>
            <a:endParaRPr lang="en-US" sz="2400" dirty="0"/>
          </a:p>
          <a:p>
            <a:pPr indent="0" marL="0">
              <a:buNone/>
            </a:pPr>
            <a:r>
              <a:rPr lang="en-US" sz="1100" dirty="0">
                <a:solidFill>
                  <a:schemeClr val="bg2"/>
                </a:solidFill>
              </a:rPr>
              <a:t>simulated taps, auto-checked</a:t>
            </a:r>
            <a:endParaRPr lang="en-US" sz="2400" dirty="0"/>
          </a:p>
        </p:txBody>
      </p:sp>
      <p:sp>
        <p:nvSpPr>
          <p:cNvPr id="13" name="Stat 4"/>
          <p:cNvSpPr txBox="1"/>
          <p:nvPr/>
        </p:nvSpPr>
        <p:spPr>
          <a:xfrm>
            <a:off x="9715500" y="5120640"/>
            <a:ext cx="1874520" cy="86868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 55%</a:t>
            </a:r>
            <a:endParaRPr lang="en-US" sz="2400" dirty="0"/>
          </a:p>
          <a:p>
            <a:pPr indent="0" marL="0">
              <a:buNone/>
            </a:pPr>
            <a:r>
              <a:rPr lang="en-US" sz="1100" dirty="0">
                <a:solidFill>
                  <a:schemeClr val="bg2"/>
                </a:solidFill>
              </a:rPr>
              <a:t>pro's choice as good as the best</a:t>
            </a:r>
            <a:endParaRPr lang="en-US" sz="2400" dirty="0"/>
          </a:p>
        </p:txBody>
      </p:sp>
      <p:sp>
        <p:nvSpPr>
          <p:cNvPr id="14" name="Model sources"/>
          <p:cNvSpPr txBox="1"/>
          <p:nvPr/>
        </p:nvSpPr>
        <p:spPr>
          <a:xfrm>
            <a:off x="548640" y="6053328"/>
            <a:ext cx="6858000" cy="292608"/>
          </a:xfrm>
          <a:prstGeom prst="rect">
            <a:avLst/>
          </a:prstGeom>
          <a:noFill/>
          <a:ln/>
        </p:spPr>
        <p:txBody>
          <a:bodyPr wrap="square" lIns="0" tIns="0" rIns="0" bIns="0" rtlCol="0" anchor="ctr"/>
          <a:lstStyle/>
          <a:p>
            <a:pPr indent="0" marL="0">
              <a:buNone/>
            </a:pPr>
            <a:r>
              <a:rPr lang="en-US" sz="1100" dirty="0">
                <a:solidFill>
                  <a:schemeClr val="bg2"/>
                </a:solidFill>
              </a:rPr>
              <a:t>Model basis: </a:t>
            </a:r>
            <a:pPr indent="0" marL="0">
              <a:buNone/>
            </a:pPr>
            <a:r>
              <a:rPr lang="en-US" sz="1100" u="sng" dirty="0">
                <a:solidFill>
                  <a:srgbClr val="22D3EE"/>
                </a:solidFill>
                <a:hlinkClick r:id="rId2" invalidUrl="" action="" tgtFrame="" tooltip="https://www.sloansportsconference.com/research-papers/physics-based-modeling-of-pass-probabilities-in-soccer" history="1" highlightClick="0" endSnd="0">
                  <a:extLst>
                    <a:ext uri="{A12FA001-AC4F-418D-AE19-62706E023703}">
                      <ahyp:hlinkClr xmlns:ahyp="http://schemas.microsoft.com/office/drawing/2018/hyperlinkcolor" val="tx"/>
                    </a:ext>
                  </a:extLst>
                </a:hlinkClick>
              </a:rPr>
              <a:t>pitch control, Spearman et al. 2017</a:t>
            </a:r>
            <a:pPr indent="0" marL="0">
              <a:buNone/>
            </a:pPr>
            <a:r>
              <a:rPr lang="en-US" sz="1100" dirty="0">
                <a:solidFill>
                  <a:schemeClr val="bg2"/>
                </a:solidFill>
              </a:rPr>
              <a:t> · </a:t>
            </a:r>
            <a:pPr indent="0" marL="0">
              <a:buNone/>
            </a:pPr>
            <a:r>
              <a:rPr lang="en-US" sz="1100" u="sng" dirty="0">
                <a:solidFill>
                  <a:srgbClr val="22D3EE"/>
                </a:solidFill>
                <a:hlinkClick r:id="rId3" invalidUrl="" action="" tgtFrame="" tooltip="https://github.com/Friends-of-Tracking-Data-FoTD/LaurieOnTracking" history="1" highlightClick="0" endSnd="0">
                  <a:extLst>
                    <a:ext uri="{A12FA001-AC4F-418D-AE19-62706E023703}">
                      <ahyp:hlinkClr xmlns:ahyp="http://schemas.microsoft.com/office/drawing/2018/hyperlinkcolor" val="tx"/>
                    </a:ext>
                  </a:extLst>
                </a:hlinkClick>
              </a:rPr>
              <a:t>EPV grid, L. Shaw (MIT)</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What comes next</a:t>
            </a:r>
            <a:endParaRPr lang="en-US" sz="3400" dirty="0"/>
          </a:p>
        </p:txBody>
      </p:sp>
      <p:sp>
        <p:nvSpPr>
          <p:cNvPr id="3" name="Next card 1"/>
          <p:cNvSpPr/>
          <p:nvPr/>
        </p:nvSpPr>
        <p:spPr>
          <a:xfrm>
            <a:off x="548640" y="1325880"/>
            <a:ext cx="2788920" cy="4297680"/>
          </a:xfrm>
          <a:prstGeom prst="roundRect">
            <a:avLst>
              <a:gd name="adj" fmla="val 3934"/>
            </a:avLst>
          </a:prstGeom>
          <a:solidFill>
            <a:schemeClr val="tx2"/>
          </a:solidFill>
          <a:ln w="12700">
            <a:solidFill>
              <a:schemeClr val="tx2"/>
            </a:solidFill>
            <a:prstDash val="solid"/>
          </a:ln>
        </p:spPr>
      </p:sp>
      <p:sp>
        <p:nvSpPr>
          <p:cNvPr id="4" name="Next circle 1"/>
          <p:cNvSpPr/>
          <p:nvPr/>
        </p:nvSpPr>
        <p:spPr>
          <a:xfrm>
            <a:off x="777240" y="1554480"/>
            <a:ext cx="640080" cy="640080"/>
          </a:xfrm>
          <a:prstGeom prst="ellipse">
            <a:avLst/>
          </a:prstGeom>
          <a:solidFill>
            <a:schemeClr val="tx1"/>
          </a:solidFill>
          <a:ln w="25400">
            <a:solidFill>
              <a:schemeClr val="accent1"/>
            </a:solidFill>
            <a:prstDash val="solid"/>
          </a:ln>
        </p:spPr>
      </p:sp>
      <p:pic>
        <p:nvPicPr>
          <p:cNvPr id="5" name="Next icon 1" descr="preencoded.png">    </p:cNvPr>
          <p:cNvPicPr>
            <a:picLocks noChangeAspect="1"/>
          </p:cNvPicPr>
          <p:nvPr/>
        </p:nvPicPr>
        <p:blipFill>
          <a:blip r:embed="rId1"/>
          <a:stretch>
            <a:fillRect/>
          </a:stretch>
        </p:blipFill>
        <p:spPr>
          <a:xfrm>
            <a:off x="932688" y="1709928"/>
            <a:ext cx="329184" cy="329184"/>
          </a:xfrm>
          <a:prstGeom prst="rect">
            <a:avLst/>
          </a:prstGeom>
        </p:spPr>
      </p:pic>
      <p:sp>
        <p:nvSpPr>
          <p:cNvPr id="6" name="Next title 1"/>
          <p:cNvSpPr txBox="1"/>
          <p:nvPr/>
        </p:nvSpPr>
        <p:spPr>
          <a:xfrm>
            <a:off x="1554480" y="1554480"/>
            <a:ext cx="1600200" cy="640080"/>
          </a:xfrm>
          <a:prstGeom prst="rect">
            <a:avLst/>
          </a:prstGeom>
          <a:noFill/>
          <a:ln/>
        </p:spPr>
        <p:txBody>
          <a:bodyPr wrap="square" lIns="0" tIns="0" rIns="0" bIns="0" rtlCol="0" anchor="ctr"/>
          <a:lstStyle/>
          <a:p>
            <a:pPr indent="0" marL="0">
              <a:buNone/>
            </a:pPr>
            <a:r>
              <a:rPr lang="en-US" sz="1900" b="1" dirty="0">
                <a:solidFill>
                  <a:schemeClr val="accent1"/>
                </a:solidFill>
              </a:rPr>
              <a:t>The game</a:t>
            </a:r>
            <a:endParaRPr lang="en-US" sz="1900" dirty="0"/>
          </a:p>
        </p:txBody>
      </p:sp>
      <p:sp>
        <p:nvSpPr>
          <p:cNvPr id="7" name="Next list 1"/>
          <p:cNvSpPr txBox="1"/>
          <p:nvPr/>
        </p:nvSpPr>
        <p:spPr>
          <a:xfrm>
            <a:off x="777240" y="2423160"/>
            <a:ext cx="2331720" cy="3063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Vision levels: Full view → Scan → Blackout</a:t>
            </a:r>
            <a:endParaRPr lang="en-US" sz="1400" dirty="0"/>
          </a:p>
          <a:p>
            <a:pPr marL="342900" indent="-342900">
              <a:spcAft>
                <a:spcPts val="800"/>
              </a:spcAft>
              <a:buSzPct val="100000"/>
              <a:buChar char="•"/>
            </a:pPr>
            <a:r>
              <a:rPr lang="en-US" sz="1400" dirty="0">
                <a:solidFill>
                  <a:schemeClr val="bg1"/>
                </a:solidFill>
              </a:rPr>
              <a:t>First-person 3D view: scan like on the pitch</a:t>
            </a:r>
            <a:endParaRPr lang="en-US" sz="1400" dirty="0"/>
          </a:p>
          <a:p>
            <a:pPr marL="342900" indent="-342900">
              <a:spcAft>
                <a:spcPts val="800"/>
              </a:spcAft>
              <a:buSzPct val="100000"/>
              <a:buChar char="•"/>
            </a:pPr>
            <a:r>
              <a:rPr lang="en-US" sz="1400" dirty="0">
                <a:solidFill>
                  <a:schemeClr val="bg1"/>
                </a:solidFill>
              </a:rPr>
              <a:t>Choose when to pass, not just where</a:t>
            </a:r>
            <a:endParaRPr lang="en-US" sz="1400" dirty="0"/>
          </a:p>
          <a:p>
            <a:pPr marL="342900" indent="-342900">
              <a:spcAft>
                <a:spcPts val="800"/>
              </a:spcAft>
              <a:buSzPct val="100000"/>
              <a:buChar char="•"/>
            </a:pPr>
            <a:r>
              <a:rPr lang="en-US" sz="1400" dirty="0">
                <a:solidFill>
                  <a:schemeClr val="bg1"/>
                </a:solidFill>
              </a:rPr>
              <a:t>Futsal moments</a:t>
            </a:r>
            <a:endParaRPr lang="en-US" sz="1400" dirty="0"/>
          </a:p>
        </p:txBody>
      </p:sp>
      <p:sp>
        <p:nvSpPr>
          <p:cNvPr id="8" name="Next card 2"/>
          <p:cNvSpPr/>
          <p:nvPr/>
        </p:nvSpPr>
        <p:spPr>
          <a:xfrm>
            <a:off x="3566160" y="1325880"/>
            <a:ext cx="2788920" cy="4297680"/>
          </a:xfrm>
          <a:prstGeom prst="roundRect">
            <a:avLst>
              <a:gd name="adj" fmla="val 3934"/>
            </a:avLst>
          </a:prstGeom>
          <a:solidFill>
            <a:schemeClr val="tx2"/>
          </a:solidFill>
          <a:ln w="12700">
            <a:solidFill>
              <a:schemeClr val="tx2"/>
            </a:solidFill>
            <a:prstDash val="solid"/>
          </a:ln>
        </p:spPr>
      </p:sp>
      <p:sp>
        <p:nvSpPr>
          <p:cNvPr id="9" name="Next circle 2"/>
          <p:cNvSpPr/>
          <p:nvPr/>
        </p:nvSpPr>
        <p:spPr>
          <a:xfrm>
            <a:off x="3794760" y="1554480"/>
            <a:ext cx="640080" cy="640080"/>
          </a:xfrm>
          <a:prstGeom prst="ellipse">
            <a:avLst/>
          </a:prstGeom>
          <a:solidFill>
            <a:schemeClr val="tx1"/>
          </a:solidFill>
          <a:ln w="25400">
            <a:solidFill>
              <a:schemeClr val="accent1"/>
            </a:solidFill>
            <a:prstDash val="solid"/>
          </a:ln>
        </p:spPr>
      </p:sp>
      <p:pic>
        <p:nvPicPr>
          <p:cNvPr id="10" name="Next icon 2" descr="preencoded.png">    </p:cNvPr>
          <p:cNvPicPr>
            <a:picLocks noChangeAspect="1"/>
          </p:cNvPicPr>
          <p:nvPr/>
        </p:nvPicPr>
        <p:blipFill>
          <a:blip r:embed="rId2"/>
          <a:stretch>
            <a:fillRect/>
          </a:stretch>
        </p:blipFill>
        <p:spPr>
          <a:xfrm>
            <a:off x="3950208" y="1709928"/>
            <a:ext cx="329184" cy="329184"/>
          </a:xfrm>
          <a:prstGeom prst="rect">
            <a:avLst/>
          </a:prstGeom>
        </p:spPr>
      </p:pic>
      <p:sp>
        <p:nvSpPr>
          <p:cNvPr id="11" name="Next title 2"/>
          <p:cNvSpPr txBox="1"/>
          <p:nvPr/>
        </p:nvSpPr>
        <p:spPr>
          <a:xfrm>
            <a:off x="4572000" y="1554480"/>
            <a:ext cx="1600200" cy="640080"/>
          </a:xfrm>
          <a:prstGeom prst="rect">
            <a:avLst/>
          </a:prstGeom>
          <a:noFill/>
          <a:ln/>
        </p:spPr>
        <p:txBody>
          <a:bodyPr wrap="square" lIns="0" tIns="0" rIns="0" bIns="0" rtlCol="0" anchor="ctr"/>
          <a:lstStyle/>
          <a:p>
            <a:pPr indent="0" marL="0">
              <a:buNone/>
            </a:pPr>
            <a:r>
              <a:rPr lang="en-US" sz="1900" b="1" dirty="0">
                <a:solidFill>
                  <a:schemeClr val="accent1"/>
                </a:solidFill>
              </a:rPr>
              <a:t>For Brain1</a:t>
            </a:r>
            <a:endParaRPr lang="en-US" sz="1900" dirty="0"/>
          </a:p>
        </p:txBody>
      </p:sp>
      <p:sp>
        <p:nvSpPr>
          <p:cNvPr id="12" name="Next list 2"/>
          <p:cNvSpPr txBox="1"/>
          <p:nvPr/>
        </p:nvSpPr>
        <p:spPr>
          <a:xfrm>
            <a:off x="3794760" y="2423160"/>
            <a:ext cx="2331720" cy="3063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The playable version of Brain1's scanning reels (800k+ views)</a:t>
            </a:r>
            <a:endParaRPr lang="en-US" sz="1400" dirty="0"/>
          </a:p>
          <a:p>
            <a:pPr marL="342900" indent="-342900">
              <a:spcAft>
                <a:spcPts val="800"/>
              </a:spcAft>
              <a:buSzPct val="100000"/>
              <a:buChar char="•"/>
            </a:pPr>
            <a:r>
              <a:rPr lang="en-US" sz="1400" dirty="0">
                <a:solidFill>
                  <a:schemeClr val="bg1"/>
                </a:solidFill>
              </a:rPr>
              <a:t>Reel → same moment in the game → download</a:t>
            </a:r>
            <a:endParaRPr lang="en-US" sz="1400" dirty="0"/>
          </a:p>
          <a:p>
            <a:pPr marL="342900" indent="-342900">
              <a:spcAft>
                <a:spcPts val="800"/>
              </a:spcAft>
              <a:buSzPct val="100000"/>
              <a:buChar char="•"/>
            </a:pPr>
            <a:r>
              <a:rPr lang="en-US" sz="1400" dirty="0">
                <a:solidFill>
                  <a:schemeClr val="bg1"/>
                </a:solidFill>
              </a:rPr>
              <a:t>Premium: unlimited training and 3D mode</a:t>
            </a:r>
            <a:endParaRPr lang="en-US" sz="1400" dirty="0"/>
          </a:p>
          <a:p>
            <a:pPr marL="342900" indent="-342900">
              <a:spcAft>
                <a:spcPts val="800"/>
              </a:spcAft>
              <a:buSzPct val="100000"/>
              <a:buChar char="•"/>
            </a:pPr>
            <a:r>
              <a:rPr lang="en-US" sz="1400" dirty="0">
                <a:solidFill>
                  <a:schemeClr val="bg1"/>
                </a:solidFill>
              </a:rPr>
              <a:t>Club version: coach dashboard</a:t>
            </a:r>
            <a:endParaRPr lang="en-US" sz="1400" dirty="0"/>
          </a:p>
        </p:txBody>
      </p:sp>
      <p:sp>
        <p:nvSpPr>
          <p:cNvPr id="13" name="Next card 3"/>
          <p:cNvSpPr/>
          <p:nvPr/>
        </p:nvSpPr>
        <p:spPr>
          <a:xfrm>
            <a:off x="6583680" y="1325880"/>
            <a:ext cx="2788920" cy="4297680"/>
          </a:xfrm>
          <a:prstGeom prst="roundRect">
            <a:avLst>
              <a:gd name="adj" fmla="val 3934"/>
            </a:avLst>
          </a:prstGeom>
          <a:solidFill>
            <a:schemeClr val="tx2"/>
          </a:solidFill>
          <a:ln w="12700">
            <a:solidFill>
              <a:schemeClr val="tx2"/>
            </a:solidFill>
            <a:prstDash val="solid"/>
          </a:ln>
        </p:spPr>
      </p:sp>
      <p:sp>
        <p:nvSpPr>
          <p:cNvPr id="14" name="Next circle 3"/>
          <p:cNvSpPr/>
          <p:nvPr/>
        </p:nvSpPr>
        <p:spPr>
          <a:xfrm>
            <a:off x="6812280" y="1554480"/>
            <a:ext cx="640080" cy="640080"/>
          </a:xfrm>
          <a:prstGeom prst="ellipse">
            <a:avLst/>
          </a:prstGeom>
          <a:solidFill>
            <a:schemeClr val="tx1"/>
          </a:solidFill>
          <a:ln w="25400">
            <a:solidFill>
              <a:schemeClr val="accent1"/>
            </a:solidFill>
            <a:prstDash val="solid"/>
          </a:ln>
        </p:spPr>
      </p:sp>
      <p:pic>
        <p:nvPicPr>
          <p:cNvPr id="15" name="Next icon 3" descr="preencoded.png">    </p:cNvPr>
          <p:cNvPicPr>
            <a:picLocks noChangeAspect="1"/>
          </p:cNvPicPr>
          <p:nvPr/>
        </p:nvPicPr>
        <p:blipFill>
          <a:blip r:embed="rId3"/>
          <a:stretch>
            <a:fillRect/>
          </a:stretch>
        </p:blipFill>
        <p:spPr>
          <a:xfrm>
            <a:off x="6967728" y="1709928"/>
            <a:ext cx="329184" cy="329184"/>
          </a:xfrm>
          <a:prstGeom prst="rect">
            <a:avLst/>
          </a:prstGeom>
        </p:spPr>
      </p:pic>
      <p:sp>
        <p:nvSpPr>
          <p:cNvPr id="16" name="Next title 3"/>
          <p:cNvSpPr txBox="1"/>
          <p:nvPr/>
        </p:nvSpPr>
        <p:spPr>
          <a:xfrm>
            <a:off x="7589520" y="1554480"/>
            <a:ext cx="1600200" cy="640080"/>
          </a:xfrm>
          <a:prstGeom prst="rect">
            <a:avLst/>
          </a:prstGeom>
          <a:noFill/>
          <a:ln/>
        </p:spPr>
        <p:txBody>
          <a:bodyPr wrap="square" lIns="0" tIns="0" rIns="0" bIns="0" rtlCol="0" anchor="ctr"/>
          <a:lstStyle/>
          <a:p>
            <a:pPr indent="0" marL="0">
              <a:buNone/>
            </a:pPr>
            <a:r>
              <a:rPr lang="en-US" sz="1900" b="1" dirty="0">
                <a:solidFill>
                  <a:schemeClr val="accent1"/>
                </a:solidFill>
              </a:rPr>
              <a:t>Proof</a:t>
            </a:r>
            <a:endParaRPr lang="en-US" sz="1900" dirty="0"/>
          </a:p>
        </p:txBody>
      </p:sp>
      <p:sp>
        <p:nvSpPr>
          <p:cNvPr id="17" name="Next list 3"/>
          <p:cNvSpPr txBox="1"/>
          <p:nvPr/>
        </p:nvSpPr>
        <p:spPr>
          <a:xfrm>
            <a:off x="6812280" y="2423160"/>
            <a:ext cx="2331720" cy="3063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Pilot with a youth academy</a:t>
            </a:r>
            <a:endParaRPr lang="en-US" sz="1400" dirty="0"/>
          </a:p>
          <a:p>
            <a:pPr marL="342900" indent="-342900">
              <a:spcAft>
                <a:spcPts val="800"/>
              </a:spcAft>
              <a:buSzPct val="100000"/>
              <a:buChar char="•"/>
            </a:pPr>
            <a:r>
              <a:rPr lang="en-US" sz="1400" dirty="0">
                <a:solidFill>
                  <a:schemeClr val="bg1"/>
                </a:solidFill>
              </a:rPr>
              <a:t>6 weeks, match video before and after</a:t>
            </a:r>
            <a:endParaRPr lang="en-US" sz="1400" dirty="0"/>
          </a:p>
          <a:p>
            <a:pPr marL="342900" indent="-342900">
              <a:spcAft>
                <a:spcPts val="800"/>
              </a:spcAft>
              <a:buSzPct val="100000"/>
              <a:buChar char="•"/>
            </a:pPr>
            <a:r>
              <a:rPr lang="en-US" sz="1400" dirty="0">
                <a:solidFill>
                  <a:schemeClr val="bg1"/>
                </a:solidFill>
              </a:rPr>
              <a:t>Measure scan frequency and pass decisions</a:t>
            </a:r>
            <a:endParaRPr lang="en-US" sz="1400" dirty="0"/>
          </a:p>
        </p:txBody>
      </p:sp>
      <p:sp>
        <p:nvSpPr>
          <p:cNvPr id="18" name="QR card"/>
          <p:cNvSpPr/>
          <p:nvPr/>
        </p:nvSpPr>
        <p:spPr>
          <a:xfrm>
            <a:off x="9692640" y="1325880"/>
            <a:ext cx="1920240" cy="4297680"/>
          </a:xfrm>
          <a:prstGeom prst="roundRect">
            <a:avLst>
              <a:gd name="adj" fmla="val 5714"/>
            </a:avLst>
          </a:prstGeom>
          <a:solidFill>
            <a:schemeClr val="tx2"/>
          </a:solidFill>
          <a:ln w="12700">
            <a:solidFill>
              <a:schemeClr val="tx2"/>
            </a:solidFill>
            <a:prstDash val="solid"/>
          </a:ln>
        </p:spPr>
      </p:sp>
      <p:pic>
        <p:nvPicPr>
          <p:cNvPr id="19" name="QR code" descr="/tmp/claude-0/-home-claude/1d9e7da0-d217-5fb5-8a7d-7dbb3f2728f7/scratchpad/deck/qr.png">    </p:cNvPr>
          <p:cNvPicPr>
            <a:picLocks noChangeAspect="1"/>
          </p:cNvPicPr>
          <p:nvPr/>
        </p:nvPicPr>
        <p:blipFill>
          <a:blip r:embed="rId4"/>
          <a:stretch>
            <a:fillRect/>
          </a:stretch>
        </p:blipFill>
        <p:spPr>
          <a:xfrm>
            <a:off x="9966960" y="1600200"/>
            <a:ext cx="1371600" cy="1371600"/>
          </a:xfrm>
          <a:prstGeom prst="rect">
            <a:avLst/>
          </a:prstGeom>
        </p:spPr>
      </p:pic>
      <p:sp>
        <p:nvSpPr>
          <p:cNvPr id="20" name="QR text"/>
          <p:cNvSpPr txBox="1"/>
          <p:nvPr/>
        </p:nvSpPr>
        <p:spPr>
          <a:xfrm>
            <a:off x="9875520" y="3154680"/>
            <a:ext cx="1645920" cy="1828800"/>
          </a:xfrm>
          <a:prstGeom prst="rect">
            <a:avLst/>
          </a:prstGeom>
          <a:noFill/>
          <a:ln/>
        </p:spPr>
        <p:txBody>
          <a:bodyPr wrap="square" lIns="0" tIns="0" rIns="0" bIns="0" rtlCol="0" anchor="t"/>
          <a:lstStyle/>
          <a:p>
            <a:pPr indent="0" marL="0">
              <a:buNone/>
            </a:pPr>
            <a:r>
              <a:rPr lang="en-US" sz="1500" b="1" dirty="0">
                <a:solidFill>
                  <a:schemeClr val="accent1"/>
                </a:solidFill>
              </a:rPr>
              <a:t>Play the demo now</a:t>
            </a:r>
            <a:endParaRPr lang="en-US" sz="1100" dirty="0"/>
          </a:p>
          <a:p>
            <a:pPr indent="0" marL="0">
              <a:buNone/>
            </a:pPr>
            <a:r>
              <a:rPr lang="en-US" sz="1200" dirty="0">
                <a:solidFill>
                  <a:schemeClr val="bg2"/>
                </a:solidFill>
              </a:rPr>
              <a:t>Scan the code or open</a:t>
            </a:r>
            <a:endParaRPr lang="en-US" sz="1100" dirty="0"/>
          </a:p>
          <a:p>
            <a:pPr indent="0" marL="0">
              <a:buNone/>
            </a:pPr>
            <a:r>
              <a:rPr lang="en-US" sz="1100" u="sng" dirty="0">
                <a:solidFill>
                  <a:srgbClr val="22D3EE"/>
                </a:solidFill>
                <a:hlinkClick r:id="rId5" invalidUrl="" action="" tgtFrame="" tooltip="https://scanandplay.vercel.app/" history="1" highlightClick="0" endSnd="0">
                  <a:extLst>
                    <a:ext uri="{A12FA001-AC4F-418D-AE19-62706E023703}">
                      <ahyp:hlinkClr xmlns:ahyp="http://schemas.microsoft.com/office/drawing/2018/hyperlinkcolor" val="tx"/>
                    </a:ext>
                  </a:extLst>
                </a:hlinkClick>
              </a:rPr>
              <a:t>scanandplay.vercel.app</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Sources</a:t>
            </a:r>
            <a:endParaRPr lang="en-US" sz="3400" dirty="0"/>
          </a:p>
        </p:txBody>
      </p:sp>
      <p:sp>
        <p:nvSpPr>
          <p:cNvPr id="3" name="Sources left"/>
          <p:cNvSpPr txBox="1"/>
          <p:nvPr/>
        </p:nvSpPr>
        <p:spPr>
          <a:xfrm>
            <a:off x="548640" y="1280160"/>
            <a:ext cx="5394960" cy="4937760"/>
          </a:xfrm>
          <a:prstGeom prst="rect">
            <a:avLst/>
          </a:prstGeom>
          <a:noFill/>
          <a:ln/>
        </p:spPr>
        <p:txBody>
          <a:bodyPr wrap="square" lIns="0" tIns="0" rIns="0" bIns="0" rtlCol="0" anchor="t"/>
          <a:lstStyle/>
          <a:p>
            <a:pPr marL="342900" indent="-342900">
              <a:spcAft>
                <a:spcPts val="700"/>
              </a:spcAft>
              <a:buSzPct val="100000"/>
              <a:buChar char="•"/>
            </a:pPr>
            <a:r>
              <a:rPr lang="en-US" sz="1200" u="sng" dirty="0">
                <a:solidFill>
                  <a:srgbClr val="22D3EE"/>
                </a:solidFill>
                <a:hlinkClick r:id="rId1" invalidUrl="" action="" tgtFrame="" tooltip="https://doi.org/10.3389/fpsyg.2020.553813" history="1" highlightClick="0" endSnd="0">
                  <a:extLst>
                    <a:ext uri="{A12FA001-AC4F-418D-AE19-62706E023703}">
                      <ahyp:hlinkClr xmlns:ahyp="http://schemas.microsoft.com/office/drawing/2018/hyperlinkcolor" val="tx"/>
                    </a:ext>
                  </a:extLst>
                </a:hlinkClick>
              </a:rPr>
              <a:t>Jordet et al. (2020). Scanning and performance in Premier League footballers. Frontiers in Psychology</a:t>
            </a:r>
            <a:endParaRPr lang="en-US" sz="1200" dirty="0"/>
          </a:p>
          <a:p>
            <a:pPr marL="342900" indent="-342900">
              <a:spcAft>
                <a:spcPts val="700"/>
              </a:spcAft>
              <a:buSzPct val="100000"/>
              <a:buChar char="•"/>
            </a:pPr>
            <a:r>
              <a:rPr lang="en-US" sz="1200" u="sng" dirty="0">
                <a:solidFill>
                  <a:srgbClr val="22D3EE"/>
                </a:solidFill>
                <a:hlinkClick r:id="rId2" invalidUrl="" action="" tgtFrame="" tooltip="https://doi.org/10.1007/s10339-011-0392-1" history="1" highlightClick="0" endSnd="0">
                  <a:extLst>
                    <a:ext uri="{A12FA001-AC4F-418D-AE19-62706E023703}">
                      <ahyp:hlinkClr xmlns:ahyp="http://schemas.microsoft.com/office/drawing/2018/hyperlinkcolor" val="tx"/>
                    </a:ext>
                  </a:extLst>
                </a:hlinkClick>
              </a:rPr>
              <a:t>Roca et al. (2011). Anticipation and decision-making in a dynamic soccer task. Cognitive Processing</a:t>
            </a:r>
            <a:endParaRPr lang="en-US" sz="1200" dirty="0"/>
          </a:p>
          <a:p>
            <a:pPr marL="342900" indent="-342900">
              <a:spcAft>
                <a:spcPts val="700"/>
              </a:spcAft>
              <a:buSzPct val="100000"/>
              <a:buChar char="•"/>
            </a:pPr>
            <a:r>
              <a:rPr lang="en-US" sz="1200" u="sng" dirty="0">
                <a:solidFill>
                  <a:srgbClr val="22D3EE"/>
                </a:solidFill>
                <a:hlinkClick r:id="rId3" invalidUrl="" action="" tgtFrame="" tooltip="https://pubmed.ncbi.nlm.nih.gov/17968048/" history="1" highlightClick="0" endSnd="0">
                  <a:extLst>
                    <a:ext uri="{A12FA001-AC4F-418D-AE19-62706E023703}">
                      <ahyp:hlinkClr xmlns:ahyp="http://schemas.microsoft.com/office/drawing/2018/hyperlinkcolor" val="tx"/>
                    </a:ext>
                  </a:extLst>
                </a:hlinkClick>
              </a:rPr>
              <a:t>Mann et al. (2007). Perceptual-cognitive expertise in sport: a meta-analysis. J Sport Exerc Psychol</a:t>
            </a:r>
            <a:endParaRPr lang="en-US" sz="1200" dirty="0"/>
          </a:p>
          <a:p>
            <a:pPr marL="342900" indent="-342900">
              <a:spcAft>
                <a:spcPts val="700"/>
              </a:spcAft>
              <a:buSzPct val="100000"/>
              <a:buChar char="•"/>
            </a:pPr>
            <a:r>
              <a:rPr lang="en-US" sz="1200" u="sng" dirty="0">
                <a:solidFill>
                  <a:srgbClr val="22D3EE"/>
                </a:solidFill>
                <a:hlinkClick r:id="rId4" invalidUrl="" action="" tgtFrame="" tooltip="https://doi.org/10.1371/journal.pone.0034731" history="1" highlightClick="0" endSnd="0">
                  <a:extLst>
                    <a:ext uri="{A12FA001-AC4F-418D-AE19-62706E023703}">
                      <ahyp:hlinkClr xmlns:ahyp="http://schemas.microsoft.com/office/drawing/2018/hyperlinkcolor" val="tx"/>
                    </a:ext>
                  </a:extLst>
                </a:hlinkClick>
              </a:rPr>
              <a:t>Vestberg et al. (2012). Executive functions predict the success of top-soccer players. PLoS ONE</a:t>
            </a:r>
            <a:endParaRPr lang="en-US" sz="1200" dirty="0"/>
          </a:p>
          <a:p>
            <a:pPr marL="342900" indent="-342900">
              <a:spcAft>
                <a:spcPts val="700"/>
              </a:spcAft>
              <a:buSzPct val="100000"/>
              <a:buChar char="•"/>
            </a:pPr>
            <a:r>
              <a:rPr lang="en-US" sz="1200" u="sng" dirty="0">
                <a:solidFill>
                  <a:srgbClr val="22D3EE"/>
                </a:solidFill>
                <a:hlinkClick r:id="rId5" invalidUrl="" action="" tgtFrame="" tooltip="https://doi.org/10.1371/journal.pone.0170845" history="1" highlightClick="0" endSnd="0">
                  <a:extLst>
                    <a:ext uri="{A12FA001-AC4F-418D-AE19-62706E023703}">
                      <ahyp:hlinkClr xmlns:ahyp="http://schemas.microsoft.com/office/drawing/2018/hyperlinkcolor" val="tx"/>
                    </a:ext>
                  </a:extLst>
                </a:hlinkClick>
              </a:rPr>
              <a:t>Vestberg et al. (2017). Core executive functions and success in young elite players. PLoS ONE</a:t>
            </a:r>
            <a:endParaRPr lang="en-US" sz="1200" dirty="0"/>
          </a:p>
          <a:p>
            <a:pPr marL="342900" indent="-342900">
              <a:spcAft>
                <a:spcPts val="700"/>
              </a:spcAft>
              <a:buSzPct val="100000"/>
              <a:buChar char="•"/>
            </a:pPr>
            <a:r>
              <a:rPr lang="en-US" sz="1200" u="sng" dirty="0">
                <a:solidFill>
                  <a:srgbClr val="22D3EE"/>
                </a:solidFill>
                <a:hlinkClick r:id="rId6" invalidUrl="" action="" tgtFrame="" tooltip="https://doi.org/10.1371/journal.pone.0144580" history="1" highlightClick="0" endSnd="0">
                  <a:extLst>
                    <a:ext uri="{A12FA001-AC4F-418D-AE19-62706E023703}">
                      <ahyp:hlinkClr xmlns:ahyp="http://schemas.microsoft.com/office/drawing/2018/hyperlinkcolor" val="tx"/>
                    </a:ext>
                  </a:extLst>
                </a:hlinkClick>
              </a:rPr>
              <a:t>Huijgen et al. (2015). Cognitive functions in elite and sub-elite youth soccer players. PLoS ONE</a:t>
            </a:r>
            <a:endParaRPr lang="en-US" sz="1200" dirty="0"/>
          </a:p>
          <a:p>
            <a:pPr marL="342900" indent="-342900">
              <a:spcAft>
                <a:spcPts val="700"/>
              </a:spcAft>
              <a:buSzPct val="100000"/>
              <a:buChar char="•"/>
            </a:pPr>
            <a:r>
              <a:rPr lang="en-US" sz="1200" u="sng" dirty="0">
                <a:solidFill>
                  <a:srgbClr val="22D3EE"/>
                </a:solidFill>
                <a:hlinkClick r:id="rId7" invalidUrl="" action="" tgtFrame="" tooltip="https://doi.org/10.1038/srep01154" history="1" highlightClick="0" endSnd="0">
                  <a:extLst>
                    <a:ext uri="{A12FA001-AC4F-418D-AE19-62706E023703}">
                      <ahyp:hlinkClr xmlns:ahyp="http://schemas.microsoft.com/office/drawing/2018/hyperlinkcolor" val="tx"/>
                    </a:ext>
                  </a:extLst>
                </a:hlinkClick>
              </a:rPr>
              <a:t>Faubert (2013). Professional athletes learn complex dynamic visual scenes rapidly. Scientific Reports</a:t>
            </a:r>
            <a:endParaRPr lang="en-US" sz="1200" dirty="0"/>
          </a:p>
          <a:p>
            <a:pPr marL="342900" indent="-342900">
              <a:spcAft>
                <a:spcPts val="700"/>
              </a:spcAft>
              <a:buSzPct val="100000"/>
              <a:buChar char="•"/>
            </a:pPr>
            <a:r>
              <a:rPr lang="en-US" sz="1200" u="sng" dirty="0">
                <a:solidFill>
                  <a:srgbClr val="22D3EE"/>
                </a:solidFill>
                <a:hlinkClick r:id="rId8" invalidUrl="" action="" tgtFrame="" tooltip="https://doi.org/10.1002/acp.3526" history="1" highlightClick="0" endSnd="0">
                  <a:extLst>
                    <a:ext uri="{A12FA001-AC4F-418D-AE19-62706E023703}">
                      <ahyp:hlinkClr xmlns:ahyp="http://schemas.microsoft.com/office/drawing/2018/hyperlinkcolor" val="tx"/>
                    </a:ext>
                  </a:extLst>
                </a:hlinkClick>
              </a:rPr>
              <a:t>Scharfen &amp; Memmert (2019). Cognitive functions in elite athletes: a meta-analysis. Appl Cogn Psychol</a:t>
            </a:r>
            <a:endParaRPr lang="en-US" sz="1200" dirty="0"/>
          </a:p>
        </p:txBody>
      </p:sp>
      <p:sp>
        <p:nvSpPr>
          <p:cNvPr id="4" name="Sources right"/>
          <p:cNvSpPr txBox="1"/>
          <p:nvPr/>
        </p:nvSpPr>
        <p:spPr>
          <a:xfrm>
            <a:off x="6217920" y="1280160"/>
            <a:ext cx="5394960" cy="4937760"/>
          </a:xfrm>
          <a:prstGeom prst="rect">
            <a:avLst/>
          </a:prstGeom>
          <a:noFill/>
          <a:ln/>
        </p:spPr>
        <p:txBody>
          <a:bodyPr wrap="square" lIns="0" tIns="0" rIns="0" bIns="0" rtlCol="0" anchor="t"/>
          <a:lstStyle/>
          <a:p>
            <a:pPr marL="342900" indent="-342900">
              <a:spcAft>
                <a:spcPts val="700"/>
              </a:spcAft>
              <a:buSzPct val="100000"/>
              <a:buChar char="•"/>
            </a:pPr>
            <a:r>
              <a:rPr lang="en-US" sz="1200" u="sng" dirty="0">
                <a:solidFill>
                  <a:srgbClr val="22D3EE"/>
                </a:solidFill>
                <a:hlinkClick r:id="rId9" invalidUrl="" action="" tgtFrame="" tooltip="https://doi.org/10.3390/sports4010001" history="1" highlightClick="0" endSnd="0">
                  <a:extLst>
                    <a:ext uri="{A12FA001-AC4F-418D-AE19-62706E023703}">
                      <ahyp:hlinkClr xmlns:ahyp="http://schemas.microsoft.com/office/drawing/2018/hyperlinkcolor" val="tx"/>
                    </a:ext>
                  </a:extLst>
                </a:hlinkClick>
              </a:rPr>
              <a:t>Nimmerichter et al. (2016). Video-based training in adolescent football players. Sports</a:t>
            </a:r>
            <a:endParaRPr lang="en-US" sz="1200" dirty="0"/>
          </a:p>
          <a:p>
            <a:pPr marL="342900" indent="-342900">
              <a:spcAft>
                <a:spcPts val="700"/>
              </a:spcAft>
              <a:buSzPct val="100000"/>
              <a:buChar char="•"/>
            </a:pPr>
            <a:r>
              <a:rPr lang="en-US" sz="1200" u="sng" dirty="0">
                <a:solidFill>
                  <a:srgbClr val="22D3EE"/>
                </a:solidFill>
                <a:hlinkClick r:id="rId10" invalidUrl="" action="" tgtFrame="" tooltip="https://doi.org/10.1186/s13102-025-01425-7" history="1" highlightClick="0" endSnd="0">
                  <a:extLst>
                    <a:ext uri="{A12FA001-AC4F-418D-AE19-62706E023703}">
                      <ahyp:hlinkClr xmlns:ahyp="http://schemas.microsoft.com/office/drawing/2018/hyperlinkcolor" val="tx"/>
                    </a:ext>
                  </a:extLst>
                </a:hlinkClick>
              </a:rPr>
              <a:t>Erisik et al. (2025). VR drills, scanning and passing in youth players (RCT). BMC Sports Sci Med Rehabil</a:t>
            </a:r>
            <a:endParaRPr lang="en-US" sz="1200" dirty="0"/>
          </a:p>
          <a:p>
            <a:pPr marL="342900" indent="-342900">
              <a:spcAft>
                <a:spcPts val="700"/>
              </a:spcAft>
              <a:buSzPct val="100000"/>
              <a:buChar char="•"/>
            </a:pPr>
            <a:r>
              <a:rPr lang="en-US" sz="1200" u="sng" dirty="0">
                <a:solidFill>
                  <a:srgbClr val="22D3EE"/>
                </a:solidFill>
                <a:hlinkClick r:id="rId11" invalidUrl="" action="" tgtFrame="" tooltip="https://doi.org/10.1080/10413200.2017.1395929" history="1" highlightClick="0" endSnd="0">
                  <a:extLst>
                    <a:ext uri="{A12FA001-AC4F-418D-AE19-62706E023703}">
                      <ahyp:hlinkClr xmlns:ahyp="http://schemas.microsoft.com/office/drawing/2018/hyperlinkcolor" val="tx"/>
                    </a:ext>
                  </a:extLst>
                </a:hlinkClick>
              </a:rPr>
              <a:t>Pocock et al. (2019). Imagery to train visual exploratory activity. J Appl Sport Psychol</a:t>
            </a:r>
            <a:endParaRPr lang="en-US" sz="1200" dirty="0"/>
          </a:p>
          <a:p>
            <a:pPr marL="342900" indent="-342900">
              <a:spcAft>
                <a:spcPts val="700"/>
              </a:spcAft>
              <a:buSzPct val="100000"/>
              <a:buChar char="•"/>
            </a:pPr>
            <a:r>
              <a:rPr lang="en-US" sz="1200" u="sng" dirty="0">
                <a:solidFill>
                  <a:srgbClr val="22D3EE"/>
                </a:solidFill>
                <a:hlinkClick r:id="rId12" invalidUrl="" action="" tgtFrame="" tooltip="https://doi.org/10.3390/bs14100919" history="1" highlightClick="0" endSnd="0">
                  <a:extLst>
                    <a:ext uri="{A12FA001-AC4F-418D-AE19-62706E023703}">
                      <ahyp:hlinkClr xmlns:ahyp="http://schemas.microsoft.com/office/drawing/2018/hyperlinkcolor" val="tx"/>
                    </a:ext>
                  </a:extLst>
                </a:hlinkClick>
              </a:rPr>
              <a:t>Zhu et al. (2024). Perceptual-cognitive training in team sports: a meta-analysis. Behavioral Sciences</a:t>
            </a:r>
            <a:endParaRPr lang="en-US" sz="1200" dirty="0"/>
          </a:p>
          <a:p>
            <a:pPr marL="342900" indent="-342900">
              <a:spcAft>
                <a:spcPts val="700"/>
              </a:spcAft>
              <a:buSzPct val="100000"/>
              <a:buChar char="•"/>
            </a:pPr>
            <a:r>
              <a:rPr lang="en-US" sz="1200" u="sng" dirty="0">
                <a:solidFill>
                  <a:srgbClr val="22D3EE"/>
                </a:solidFill>
                <a:hlinkClick r:id="rId13" invalidUrl="" action="" tgtFrame="" tooltip="https://doi.org/10.1080/17461391.2014.957727" history="1" highlightClick="0" endSnd="0">
                  <a:extLst>
                    <a:ext uri="{A12FA001-AC4F-418D-AE19-62706E023703}">
                      <ahyp:hlinkClr xmlns:ahyp="http://schemas.microsoft.com/office/drawing/2018/hyperlinkcolor" val="tx"/>
                    </a:ext>
                  </a:extLst>
                </a:hlinkClick>
              </a:rPr>
              <a:t>Broadbent et al. (2015). Perceptual-cognitive training and transfer to the field. Eur J Sport Sci</a:t>
            </a:r>
            <a:endParaRPr lang="en-US" sz="1200" dirty="0"/>
          </a:p>
          <a:p>
            <a:pPr marL="342900" indent="-342900">
              <a:spcAft>
                <a:spcPts val="700"/>
              </a:spcAft>
              <a:buSzPct val="100000"/>
              <a:buChar char="•"/>
            </a:pPr>
            <a:r>
              <a:rPr lang="en-US" sz="1200" u="sng" dirty="0">
                <a:solidFill>
                  <a:srgbClr val="22D3EE"/>
                </a:solidFill>
                <a:hlinkClick r:id="rId14" invalidUrl="" action="" tgtFrame="" tooltip="https://pure.etsmtl.ca/en/publications/no-transfer-of-3d-multiple-object-tracking-training-on-game-perfo/" history="1" highlightClick="0" endSnd="0">
                  <a:extLst>
                    <a:ext uri="{A12FA001-AC4F-418D-AE19-62706E023703}">
                      <ahyp:hlinkClr xmlns:ahyp="http://schemas.microsoft.com/office/drawing/2018/hyperlinkcolor" val="tx"/>
                    </a:ext>
                  </a:extLst>
                </a:hlinkClick>
              </a:rPr>
              <a:t>Romeas et al. (2016) and follow-up: 3D-MOT training and (no) transfer in soccer</a:t>
            </a:r>
            <a:endParaRPr lang="en-US" sz="1200" dirty="0"/>
          </a:p>
          <a:p>
            <a:pPr marL="342900" indent="-342900">
              <a:spcAft>
                <a:spcPts val="700"/>
              </a:spcAft>
              <a:buSzPct val="100000"/>
              <a:buChar char="•"/>
            </a:pPr>
            <a:r>
              <a:rPr lang="en-US" sz="1200" u="sng" dirty="0">
                <a:solidFill>
                  <a:srgbClr val="22D3EE"/>
                </a:solidFill>
                <a:hlinkClick r:id="rId15" invalidUrl="" action="" tgtFrame="" tooltip="https://doi.org/10.1038/s41597-025-04505-y" history="1" highlightClick="0" endSnd="0">
                  <a:extLst>
                    <a:ext uri="{A12FA001-AC4F-418D-AE19-62706E023703}">
                      <ahyp:hlinkClr xmlns:ahyp="http://schemas.microsoft.com/office/drawing/2018/hyperlinkcolor" val="tx"/>
                    </a:ext>
                  </a:extLst>
                </a:hlinkClick>
              </a:rPr>
              <a:t>Bassek et al. (2025). Integrated DFL tracking and event dataset (CC BY 4.0). Scientific Data</a:t>
            </a:r>
            <a:endParaRPr lang="en-US" sz="1200" dirty="0"/>
          </a:p>
          <a:p>
            <a:pPr marL="342900" indent="-342900">
              <a:spcAft>
                <a:spcPts val="700"/>
              </a:spcAft>
              <a:buSzPct val="100000"/>
              <a:buChar char="•"/>
            </a:pPr>
            <a:r>
              <a:rPr lang="en-US" sz="1200" u="sng" dirty="0">
                <a:solidFill>
                  <a:srgbClr val="22D3EE"/>
                </a:solidFill>
                <a:hlinkClick r:id="rId16" invalidUrl="" action="" tgtFrame="" tooltip="https://www.sloansportsconference.com/research-papers/physics-based-modeling-of-pass-probabilities-in-soccer" history="1" highlightClick="0" endSnd="0">
                  <a:extLst>
                    <a:ext uri="{A12FA001-AC4F-418D-AE19-62706E023703}">
                      <ahyp:hlinkClr xmlns:ahyp="http://schemas.microsoft.com/office/drawing/2018/hyperlinkcolor" val="tx"/>
                    </a:ext>
                  </a:extLst>
                </a:hlinkClick>
              </a:rPr>
              <a:t>Spearman et al. (2017). Physics-based pass probabilities · Shaw: LaurieOnTracking (MIT)</a:t>
            </a:r>
            <a:endParaRPr lang="en-US" sz="12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4C8"/>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can and Play">
  <a:themeElements>
    <a:clrScheme name="Scan and Play">
      <a:dk1>
        <a:srgbClr val="0B1120"/>
      </a:dk1>
      <a:lt1>
        <a:srgbClr val="F1F5F9"/>
      </a:lt1>
      <a:dk2>
        <a:srgbClr val="16203A"/>
      </a:dk2>
      <a:lt2>
        <a:srgbClr val="A7B4C8"/>
      </a:lt2>
      <a:accent1>
        <a:srgbClr val="FFD60A"/>
      </a:accent1>
      <a:accent2>
        <a:srgbClr val="22D3EE"/>
      </a:accent2>
      <a:accent3>
        <a:srgbClr val="34D399"/>
      </a:accent3>
      <a:accent4>
        <a:srgbClr val="F87171"/>
      </a:accent4>
      <a:accent5>
        <a:srgbClr val="3B82F6"/>
      </a:accent5>
      <a:accent6>
        <a:srgbClr val="A78BFA"/>
      </a:accent6>
      <a:hlink>
        <a:srgbClr val="22D3EE"/>
      </a:hlink>
      <a:folHlink>
        <a:srgbClr val="67E8F9"/>
      </a:folHlink>
    </a:clrScheme>
    <a:fontScheme name="Scan and Pl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Scan &amp; Play</dc:title>
  <dc:subject>PptxGenJS Presentation</dc:subject>
  <dc:creator>Brain1 Hackathon 2026</dc:creator>
  <cp:lastModifiedBy>Brain1 Hackathon 2026</cp:lastModifiedBy>
  <cp:revision>1</cp:revision>
  <dcterms:created xsi:type="dcterms:W3CDTF">2026-10-30T09:32:32Z</dcterms:created>
  <dcterms:modified xsi:type="dcterms:W3CDTF">2026-10-30T09:32:32Z</dcterms:modified>
</cp:coreProperties>
</file>